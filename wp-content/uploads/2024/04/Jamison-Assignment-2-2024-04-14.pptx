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CED73-31D8-4C6F-A35B-2FDDC14B1E31}" v="7" dt="2024-04-13T21:20:22.7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1" d="100"/>
          <a:sy n="101" d="100"/>
        </p:scale>
        <p:origin x="91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k Jamison" userId="ba5cb3d4-e437-4fdd-96e9-c87ac9c47693" providerId="ADAL" clId="{841CED73-31D8-4C6F-A35B-2FDDC14B1E31}"/>
    <pc:docChg chg="custSel addSld modSld">
      <pc:chgData name="Frank Jamison" userId="ba5cb3d4-e437-4fdd-96e9-c87ac9c47693" providerId="ADAL" clId="{841CED73-31D8-4C6F-A35B-2FDDC14B1E31}" dt="2024-04-13T21:20:54.183" v="46" actId="27636"/>
      <pc:docMkLst>
        <pc:docMk/>
      </pc:docMkLst>
      <pc:sldChg chg="modSp mod">
        <pc:chgData name="Frank Jamison" userId="ba5cb3d4-e437-4fdd-96e9-c87ac9c47693" providerId="ADAL" clId="{841CED73-31D8-4C6F-A35B-2FDDC14B1E31}" dt="2024-04-13T21:15:59.928" v="1" actId="27636"/>
        <pc:sldMkLst>
          <pc:docMk/>
          <pc:sldMk cId="721104361" sldId="256"/>
        </pc:sldMkLst>
        <pc:spChg chg="mod">
          <ac:chgData name="Frank Jamison" userId="ba5cb3d4-e437-4fdd-96e9-c87ac9c47693" providerId="ADAL" clId="{841CED73-31D8-4C6F-A35B-2FDDC14B1E31}" dt="2024-04-13T21:15:59.928" v="1" actId="27636"/>
          <ac:spMkLst>
            <pc:docMk/>
            <pc:sldMk cId="721104361" sldId="256"/>
            <ac:spMk id="3" creationId="{342F0884-9AA5-8377-EF23-5ABEDC6D4E8D}"/>
          </ac:spMkLst>
        </pc:spChg>
      </pc:sldChg>
      <pc:sldChg chg="modSp mod">
        <pc:chgData name="Frank Jamison" userId="ba5cb3d4-e437-4fdd-96e9-c87ac9c47693" providerId="ADAL" clId="{841CED73-31D8-4C6F-A35B-2FDDC14B1E31}" dt="2024-04-13T21:16:17.488" v="4" actId="27636"/>
        <pc:sldMkLst>
          <pc:docMk/>
          <pc:sldMk cId="4088301210" sldId="258"/>
        </pc:sldMkLst>
        <pc:spChg chg="mod">
          <ac:chgData name="Frank Jamison" userId="ba5cb3d4-e437-4fdd-96e9-c87ac9c47693" providerId="ADAL" clId="{841CED73-31D8-4C6F-A35B-2FDDC14B1E31}" dt="2024-04-13T21:16:17.488" v="4" actId="27636"/>
          <ac:spMkLst>
            <pc:docMk/>
            <pc:sldMk cId="4088301210" sldId="258"/>
            <ac:spMk id="2" creationId="{D3624146-01FF-F167-DF14-DDA4CF27EB09}"/>
          </ac:spMkLst>
        </pc:spChg>
      </pc:sldChg>
      <pc:sldChg chg="modSp mod">
        <pc:chgData name="Frank Jamison" userId="ba5cb3d4-e437-4fdd-96e9-c87ac9c47693" providerId="ADAL" clId="{841CED73-31D8-4C6F-A35B-2FDDC14B1E31}" dt="2024-04-13T21:16:29.232" v="6" actId="27636"/>
        <pc:sldMkLst>
          <pc:docMk/>
          <pc:sldMk cId="1981265103" sldId="259"/>
        </pc:sldMkLst>
        <pc:spChg chg="mod">
          <ac:chgData name="Frank Jamison" userId="ba5cb3d4-e437-4fdd-96e9-c87ac9c47693" providerId="ADAL" clId="{841CED73-31D8-4C6F-A35B-2FDDC14B1E31}" dt="2024-04-13T21:16:29.232" v="6" actId="27636"/>
          <ac:spMkLst>
            <pc:docMk/>
            <pc:sldMk cId="1981265103" sldId="259"/>
            <ac:spMk id="2" creationId="{213FCBC3-E4E4-AE69-C0E9-A3654E7E9759}"/>
          </ac:spMkLst>
        </pc:spChg>
      </pc:sldChg>
      <pc:sldChg chg="modSp mod">
        <pc:chgData name="Frank Jamison" userId="ba5cb3d4-e437-4fdd-96e9-c87ac9c47693" providerId="ADAL" clId="{841CED73-31D8-4C6F-A35B-2FDDC14B1E31}" dt="2024-04-13T21:16:42.305" v="8" actId="27636"/>
        <pc:sldMkLst>
          <pc:docMk/>
          <pc:sldMk cId="3116069572" sldId="260"/>
        </pc:sldMkLst>
        <pc:spChg chg="mod">
          <ac:chgData name="Frank Jamison" userId="ba5cb3d4-e437-4fdd-96e9-c87ac9c47693" providerId="ADAL" clId="{841CED73-31D8-4C6F-A35B-2FDDC14B1E31}" dt="2024-04-13T21:16:42.305" v="8" actId="27636"/>
          <ac:spMkLst>
            <pc:docMk/>
            <pc:sldMk cId="3116069572" sldId="260"/>
            <ac:spMk id="2" creationId="{AFA5B833-02B9-6E5E-BAB3-3F03DB3EFB0D}"/>
          </ac:spMkLst>
        </pc:spChg>
        <pc:spChg chg="mod">
          <ac:chgData name="Frank Jamison" userId="ba5cb3d4-e437-4fdd-96e9-c87ac9c47693" providerId="ADAL" clId="{841CED73-31D8-4C6F-A35B-2FDDC14B1E31}" dt="2024-04-13T21:15:59.968" v="2" actId="27636"/>
          <ac:spMkLst>
            <pc:docMk/>
            <pc:sldMk cId="3116069572" sldId="260"/>
            <ac:spMk id="3" creationId="{6D4C219B-97C8-A3B1-AD0E-C950AD0F80D7}"/>
          </ac:spMkLst>
        </pc:spChg>
      </pc:sldChg>
      <pc:sldChg chg="modSp mod">
        <pc:chgData name="Frank Jamison" userId="ba5cb3d4-e437-4fdd-96e9-c87ac9c47693" providerId="ADAL" clId="{841CED73-31D8-4C6F-A35B-2FDDC14B1E31}" dt="2024-04-13T21:16:52.983" v="9" actId="14100"/>
        <pc:sldMkLst>
          <pc:docMk/>
          <pc:sldMk cId="1604811510" sldId="261"/>
        </pc:sldMkLst>
        <pc:spChg chg="mod">
          <ac:chgData name="Frank Jamison" userId="ba5cb3d4-e437-4fdd-96e9-c87ac9c47693" providerId="ADAL" clId="{841CED73-31D8-4C6F-A35B-2FDDC14B1E31}" dt="2024-04-13T21:16:52.983" v="9" actId="14100"/>
          <ac:spMkLst>
            <pc:docMk/>
            <pc:sldMk cId="1604811510" sldId="261"/>
            <ac:spMk id="2" creationId="{10659212-E674-0876-6268-8B32EF4C4749}"/>
          </ac:spMkLst>
        </pc:spChg>
      </pc:sldChg>
      <pc:sldChg chg="modSp mod">
        <pc:chgData name="Frank Jamison" userId="ba5cb3d4-e437-4fdd-96e9-c87ac9c47693" providerId="ADAL" clId="{841CED73-31D8-4C6F-A35B-2FDDC14B1E31}" dt="2024-04-13T21:17:08.985" v="11" actId="27636"/>
        <pc:sldMkLst>
          <pc:docMk/>
          <pc:sldMk cId="4400292" sldId="262"/>
        </pc:sldMkLst>
        <pc:spChg chg="mod">
          <ac:chgData name="Frank Jamison" userId="ba5cb3d4-e437-4fdd-96e9-c87ac9c47693" providerId="ADAL" clId="{841CED73-31D8-4C6F-A35B-2FDDC14B1E31}" dt="2024-04-13T21:17:08.985" v="11" actId="27636"/>
          <ac:spMkLst>
            <pc:docMk/>
            <pc:sldMk cId="4400292" sldId="262"/>
            <ac:spMk id="2" creationId="{74A78F47-0A90-DF3B-BF83-7CA5CF5BD436}"/>
          </ac:spMkLst>
        </pc:spChg>
      </pc:sldChg>
      <pc:sldChg chg="modSp mod">
        <pc:chgData name="Frank Jamison" userId="ba5cb3d4-e437-4fdd-96e9-c87ac9c47693" providerId="ADAL" clId="{841CED73-31D8-4C6F-A35B-2FDDC14B1E31}" dt="2024-04-13T21:17:34.284" v="14" actId="27636"/>
        <pc:sldMkLst>
          <pc:docMk/>
          <pc:sldMk cId="2017571778" sldId="263"/>
        </pc:sldMkLst>
        <pc:spChg chg="mod">
          <ac:chgData name="Frank Jamison" userId="ba5cb3d4-e437-4fdd-96e9-c87ac9c47693" providerId="ADAL" clId="{841CED73-31D8-4C6F-A35B-2FDDC14B1E31}" dt="2024-04-13T21:17:34.284" v="14" actId="27636"/>
          <ac:spMkLst>
            <pc:docMk/>
            <pc:sldMk cId="2017571778" sldId="263"/>
            <ac:spMk id="2" creationId="{C5D448BD-4AB7-14CF-4F81-954E2F620346}"/>
          </ac:spMkLst>
        </pc:spChg>
        <pc:spChg chg="mod">
          <ac:chgData name="Frank Jamison" userId="ba5cb3d4-e437-4fdd-96e9-c87ac9c47693" providerId="ADAL" clId="{841CED73-31D8-4C6F-A35B-2FDDC14B1E31}" dt="2024-04-13T21:15:59.865" v="0"/>
          <ac:spMkLst>
            <pc:docMk/>
            <pc:sldMk cId="2017571778" sldId="263"/>
            <ac:spMk id="3" creationId="{BA24EF0D-D928-12A3-6F0D-BC98C8A1A873}"/>
          </ac:spMkLst>
        </pc:spChg>
      </pc:sldChg>
      <pc:sldChg chg="modSp mod">
        <pc:chgData name="Frank Jamison" userId="ba5cb3d4-e437-4fdd-96e9-c87ac9c47693" providerId="ADAL" clId="{841CED73-31D8-4C6F-A35B-2FDDC14B1E31}" dt="2024-04-13T21:17:43.704" v="16" actId="27636"/>
        <pc:sldMkLst>
          <pc:docMk/>
          <pc:sldMk cId="771060958" sldId="264"/>
        </pc:sldMkLst>
        <pc:spChg chg="mod">
          <ac:chgData name="Frank Jamison" userId="ba5cb3d4-e437-4fdd-96e9-c87ac9c47693" providerId="ADAL" clId="{841CED73-31D8-4C6F-A35B-2FDDC14B1E31}" dt="2024-04-13T21:17:43.704" v="16" actId="27636"/>
          <ac:spMkLst>
            <pc:docMk/>
            <pc:sldMk cId="771060958" sldId="264"/>
            <ac:spMk id="2" creationId="{461F69B2-7E56-046F-E28B-FF15CB347194}"/>
          </ac:spMkLst>
        </pc:spChg>
      </pc:sldChg>
      <pc:sldChg chg="modSp mod">
        <pc:chgData name="Frank Jamison" userId="ba5cb3d4-e437-4fdd-96e9-c87ac9c47693" providerId="ADAL" clId="{841CED73-31D8-4C6F-A35B-2FDDC14B1E31}" dt="2024-04-13T21:17:52.149" v="18" actId="27636"/>
        <pc:sldMkLst>
          <pc:docMk/>
          <pc:sldMk cId="1737422405" sldId="265"/>
        </pc:sldMkLst>
        <pc:spChg chg="mod">
          <ac:chgData name="Frank Jamison" userId="ba5cb3d4-e437-4fdd-96e9-c87ac9c47693" providerId="ADAL" clId="{841CED73-31D8-4C6F-A35B-2FDDC14B1E31}" dt="2024-04-13T21:17:52.149" v="18" actId="27636"/>
          <ac:spMkLst>
            <pc:docMk/>
            <pc:sldMk cId="1737422405" sldId="265"/>
            <ac:spMk id="2" creationId="{BEF4C5B9-262D-9567-EF83-21917B586F4C}"/>
          </ac:spMkLst>
        </pc:spChg>
      </pc:sldChg>
      <pc:sldChg chg="modSp new mod">
        <pc:chgData name="Frank Jamison" userId="ba5cb3d4-e437-4fdd-96e9-c87ac9c47693" providerId="ADAL" clId="{841CED73-31D8-4C6F-A35B-2FDDC14B1E31}" dt="2024-04-13T21:20:54.183" v="46" actId="27636"/>
        <pc:sldMkLst>
          <pc:docMk/>
          <pc:sldMk cId="3334904798" sldId="266"/>
        </pc:sldMkLst>
        <pc:spChg chg="mod">
          <ac:chgData name="Frank Jamison" userId="ba5cb3d4-e437-4fdd-96e9-c87ac9c47693" providerId="ADAL" clId="{841CED73-31D8-4C6F-A35B-2FDDC14B1E31}" dt="2024-04-13T21:19:10.405" v="31" actId="27636"/>
          <ac:spMkLst>
            <pc:docMk/>
            <pc:sldMk cId="3334904798" sldId="266"/>
            <ac:spMk id="2" creationId="{18C8AA9F-2BBD-B4A1-48F4-A594A6BBA7AB}"/>
          </ac:spMkLst>
        </pc:spChg>
        <pc:spChg chg="mod">
          <ac:chgData name="Frank Jamison" userId="ba5cb3d4-e437-4fdd-96e9-c87ac9c47693" providerId="ADAL" clId="{841CED73-31D8-4C6F-A35B-2FDDC14B1E31}" dt="2024-04-13T21:20:54.183" v="46" actId="27636"/>
          <ac:spMkLst>
            <pc:docMk/>
            <pc:sldMk cId="3334904798" sldId="266"/>
            <ac:spMk id="3" creationId="{F640B9EC-F0E5-D3B6-5AF6-A908340A0E9D}"/>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0D9F65DE-2082-470A-98CE-DD967D05F82A}" type="datetimeFigureOut">
              <a:rPr lang="en-US" smtClean="0"/>
              <a:t>4/13/2024</a:t>
            </a:fld>
            <a:endParaRPr lang="en-US"/>
          </a:p>
        </p:txBody>
      </p:sp>
      <p:sp>
        <p:nvSpPr>
          <p:cNvPr id="5" name="Footer Placeholder 4"/>
          <p:cNvSpPr>
            <a:spLocks noGrp="1"/>
          </p:cNvSpPr>
          <p:nvPr>
            <p:ph type="ftr" sz="quarter" idx="11"/>
          </p:nvPr>
        </p:nvSpPr>
        <p:spPr>
          <a:xfrm>
            <a:off x="1371600" y="4323845"/>
            <a:ext cx="6400800" cy="365125"/>
          </a:xfrm>
        </p:spPr>
        <p:txBody>
          <a:bodyPr/>
          <a:lstStyle/>
          <a:p>
            <a:endParaRPr lang="en-US"/>
          </a:p>
        </p:txBody>
      </p:sp>
      <p:sp>
        <p:nvSpPr>
          <p:cNvPr id="6" name="Slide Number Placeholder 5"/>
          <p:cNvSpPr>
            <a:spLocks noGrp="1"/>
          </p:cNvSpPr>
          <p:nvPr>
            <p:ph type="sldNum" sz="quarter" idx="12"/>
          </p:nvPr>
        </p:nvSpPr>
        <p:spPr>
          <a:xfrm>
            <a:off x="8077200" y="1430866"/>
            <a:ext cx="2743200" cy="365125"/>
          </a:xfrm>
        </p:spPr>
        <p:txBody>
          <a:bodyPr/>
          <a:lstStyle/>
          <a:p>
            <a:fld id="{84F01AAC-7B55-4AF3-8CBF-2FCF9D2701CD}" type="slidenum">
              <a:rPr lang="en-US" smtClean="0"/>
              <a:t>‹#›</a:t>
            </a:fld>
            <a:endParaRPr lang="en-US"/>
          </a:p>
        </p:txBody>
      </p:sp>
    </p:spTree>
    <p:extLst>
      <p:ext uri="{BB962C8B-B14F-4D97-AF65-F5344CB8AC3E}">
        <p14:creationId xmlns:p14="http://schemas.microsoft.com/office/powerpoint/2010/main" val="18118215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9F65DE-2082-470A-98CE-DD967D05F82A}" type="datetimeFigureOut">
              <a:rPr lang="en-US" smtClean="0"/>
              <a:t>4/13/2024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F01AAC-7B55-4AF3-8CBF-2FCF9D2701CD}" type="slidenum">
              <a:rPr lang="en-US" smtClean="0"/>
              <a:t>‹#›</a:t>
            </a:fld>
            <a:endParaRPr lang="en-US"/>
          </a:p>
        </p:txBody>
      </p:sp>
    </p:spTree>
    <p:extLst>
      <p:ext uri="{BB962C8B-B14F-4D97-AF65-F5344CB8AC3E}">
        <p14:creationId xmlns:p14="http://schemas.microsoft.com/office/powerpoint/2010/main" val="42650823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0D9F65DE-2082-470A-98CE-DD967D05F82A}" type="datetimeFigureOut">
              <a:rPr lang="en-US" smtClean="0"/>
              <a:t>4/13/2024</a:t>
            </a:fld>
            <a:endParaRPr lang="en-US"/>
          </a:p>
        </p:txBody>
      </p:sp>
      <p:sp>
        <p:nvSpPr>
          <p:cNvPr id="5" name="Footer Placeholder 4"/>
          <p:cNvSpPr>
            <a:spLocks noGrp="1"/>
          </p:cNvSpPr>
          <p:nvPr>
            <p:ph type="ftr" sz="quarter" idx="11"/>
          </p:nvPr>
        </p:nvSpPr>
        <p:spPr>
          <a:xfrm>
            <a:off x="685800" y="381001"/>
            <a:ext cx="6991492" cy="36406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84F01AAC-7B55-4AF3-8CBF-2FCF9D2701CD}" type="slidenum">
              <a:rPr lang="en-US" smtClean="0"/>
              <a:t>‹#›</a:t>
            </a:fld>
            <a:endParaRPr lang="en-US"/>
          </a:p>
        </p:txBody>
      </p:sp>
    </p:spTree>
    <p:extLst>
      <p:ext uri="{BB962C8B-B14F-4D97-AF65-F5344CB8AC3E}">
        <p14:creationId xmlns:p14="http://schemas.microsoft.com/office/powerpoint/2010/main" val="502898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D9F65DE-2082-470A-98CE-DD967D05F82A}" type="datetimeFigureOut">
              <a:rPr lang="en-US" smtClean="0"/>
              <a:t>4/13/2024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F01AAC-7B55-4AF3-8CBF-2FCF9D2701CD}" type="slidenum">
              <a:rPr lang="en-US" smtClean="0"/>
              <a:t>‹#›</a:t>
            </a:fld>
            <a:endParaRPr lang="en-US"/>
          </a:p>
        </p:txBody>
      </p:sp>
    </p:spTree>
    <p:extLst>
      <p:ext uri="{BB962C8B-B14F-4D97-AF65-F5344CB8AC3E}">
        <p14:creationId xmlns:p14="http://schemas.microsoft.com/office/powerpoint/2010/main" val="576370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D9F65DE-2082-470A-98CE-DD967D05F82A}" type="datetimeFigureOut">
              <a:rPr lang="en-US" smtClean="0"/>
              <a:t>4/13/2024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F01AAC-7B55-4AF3-8CBF-2FCF9D2701CD}" type="slidenum">
              <a:rPr lang="en-US" smtClean="0"/>
              <a:t>‹#›</a:t>
            </a:fld>
            <a:endParaRPr lang="en-US"/>
          </a:p>
        </p:txBody>
      </p:sp>
    </p:spTree>
    <p:extLst>
      <p:ext uri="{BB962C8B-B14F-4D97-AF65-F5344CB8AC3E}">
        <p14:creationId xmlns:p14="http://schemas.microsoft.com/office/powerpoint/2010/main" val="4031116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D9F65DE-2082-470A-98CE-DD967D05F82A}" type="datetimeFigureOut">
              <a:rPr lang="en-US" smtClean="0"/>
              <a:t>4/13/2024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4F01AAC-7B55-4AF3-8CBF-2FCF9D2701CD}" type="slidenum">
              <a:rPr lang="en-US" smtClean="0"/>
              <a:t>‹#›</a:t>
            </a:fld>
            <a:endParaRPr lang="en-US"/>
          </a:p>
        </p:txBody>
      </p:sp>
    </p:spTree>
    <p:extLst>
      <p:ext uri="{BB962C8B-B14F-4D97-AF65-F5344CB8AC3E}">
        <p14:creationId xmlns:p14="http://schemas.microsoft.com/office/powerpoint/2010/main" val="3554757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9F65DE-2082-470A-98CE-DD967D05F82A}" type="datetimeFigureOut">
              <a:rPr lang="en-US" smtClean="0"/>
              <a:t>4/13/2024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4F01AAC-7B55-4AF3-8CBF-2FCF9D2701CD}" type="slidenum">
              <a:rPr lang="en-US" smtClean="0"/>
              <a:t>‹#›</a:t>
            </a:fld>
            <a:endParaRPr lang="en-US"/>
          </a:p>
        </p:txBody>
      </p:sp>
    </p:spTree>
    <p:extLst>
      <p:ext uri="{BB962C8B-B14F-4D97-AF65-F5344CB8AC3E}">
        <p14:creationId xmlns:p14="http://schemas.microsoft.com/office/powerpoint/2010/main" val="2603071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D9F65DE-2082-470A-98CE-DD967D05F82A}" type="datetimeFigureOut">
              <a:rPr lang="en-US" smtClean="0"/>
              <a:t>4/13/2024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F01AAC-7B55-4AF3-8CBF-2FCF9D2701CD}" type="slidenum">
              <a:rPr lang="en-US" smtClean="0"/>
              <a:t>‹#›</a:t>
            </a:fld>
            <a:endParaRPr lang="en-US"/>
          </a:p>
        </p:txBody>
      </p:sp>
    </p:spTree>
    <p:extLst>
      <p:ext uri="{BB962C8B-B14F-4D97-AF65-F5344CB8AC3E}">
        <p14:creationId xmlns:p14="http://schemas.microsoft.com/office/powerpoint/2010/main" val="2416582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D9F65DE-2082-470A-98CE-DD967D05F82A}" type="datetimeFigureOut">
              <a:rPr lang="en-US" smtClean="0"/>
              <a:t>4/13/2024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F01AAC-7B55-4AF3-8CBF-2FCF9D2701CD}" type="slidenum">
              <a:rPr lang="en-US" smtClean="0"/>
              <a:t>‹#›</a:t>
            </a:fld>
            <a:endParaRPr lang="en-US"/>
          </a:p>
        </p:txBody>
      </p:sp>
    </p:spTree>
    <p:extLst>
      <p:ext uri="{BB962C8B-B14F-4D97-AF65-F5344CB8AC3E}">
        <p14:creationId xmlns:p14="http://schemas.microsoft.com/office/powerpoint/2010/main" val="2407772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D9F65DE-2082-470A-98CE-DD967D05F82A}" type="datetimeFigureOut">
              <a:rPr lang="en-US" smtClean="0"/>
              <a:t>4/13/2024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F01AAC-7B55-4AF3-8CBF-2FCF9D2701CD}" type="slidenum">
              <a:rPr lang="en-US" smtClean="0"/>
              <a:t>‹#›</a:t>
            </a:fld>
            <a:endParaRPr lang="en-US"/>
          </a:p>
        </p:txBody>
      </p:sp>
    </p:spTree>
    <p:extLst>
      <p:ext uri="{BB962C8B-B14F-4D97-AF65-F5344CB8AC3E}">
        <p14:creationId xmlns:p14="http://schemas.microsoft.com/office/powerpoint/2010/main" val="14197924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0D9F65DE-2082-470A-98CE-DD967D05F82A}" type="datetimeFigureOut">
              <a:rPr lang="en-US" smtClean="0"/>
              <a:t>4/13/2024</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84F01AAC-7B55-4AF3-8CBF-2FCF9D2701CD}" type="slidenum">
              <a:rPr lang="en-US" smtClean="0"/>
              <a:t>‹#›</a:t>
            </a:fld>
            <a:endParaRPr lang="en-US"/>
          </a:p>
        </p:txBody>
      </p:sp>
    </p:spTree>
    <p:extLst>
      <p:ext uri="{BB962C8B-B14F-4D97-AF65-F5344CB8AC3E}">
        <p14:creationId xmlns:p14="http://schemas.microsoft.com/office/powerpoint/2010/main" val="38100905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0D9F65DE-2082-470A-98CE-DD967D05F82A}" type="datetimeFigureOut">
              <a:rPr lang="en-US" smtClean="0"/>
              <a:t>4/13/2024</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84F01AAC-7B55-4AF3-8CBF-2FCF9D2701CD}" type="slidenum">
              <a:rPr lang="en-US" smtClean="0"/>
              <a:t>‹#›</a:t>
            </a:fld>
            <a:endParaRPr lang="en-US"/>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9100399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0D9F65DE-2082-470A-98CE-DD967D05F82A}" type="datetimeFigureOut">
              <a:rPr lang="en-US" smtClean="0"/>
              <a:t>4/13/2024</a:t>
            </a:fld>
            <a:endParaRPr lang="en-US"/>
          </a:p>
        </p:txBody>
      </p:sp>
      <p:sp>
        <p:nvSpPr>
          <p:cNvPr id="6" name="Footer Placeholder 5"/>
          <p:cNvSpPr>
            <a:spLocks noGrp="1"/>
          </p:cNvSpPr>
          <p:nvPr>
            <p:ph type="ftr" sz="quarter" idx="11"/>
          </p:nvPr>
        </p:nvSpPr>
        <p:spPr>
          <a:xfrm>
            <a:off x="685800" y="378883"/>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84F01AAC-7B55-4AF3-8CBF-2FCF9D2701CD}" type="slidenum">
              <a:rPr lang="en-US" smtClean="0"/>
              <a:t>‹#›</a:t>
            </a:fld>
            <a:endParaRPr lang="en-US"/>
          </a:p>
        </p:txBody>
      </p:sp>
    </p:spTree>
    <p:extLst>
      <p:ext uri="{BB962C8B-B14F-4D97-AF65-F5344CB8AC3E}">
        <p14:creationId xmlns:p14="http://schemas.microsoft.com/office/powerpoint/2010/main" val="28654666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D9F65DE-2082-470A-98CE-DD967D05F82A}" type="datetimeFigureOut">
              <a:rPr lang="en-US" smtClean="0"/>
              <a:t>4/13/2024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4F01AAC-7B55-4AF3-8CBF-2FCF9D2701CD}" type="slidenum">
              <a:rPr lang="en-US" smtClean="0"/>
              <a:t>‹#›</a:t>
            </a:fld>
            <a:endParaRPr lang="en-US"/>
          </a:p>
        </p:txBody>
      </p:sp>
    </p:spTree>
    <p:extLst>
      <p:ext uri="{BB962C8B-B14F-4D97-AF65-F5344CB8AC3E}">
        <p14:creationId xmlns:p14="http://schemas.microsoft.com/office/powerpoint/2010/main" val="25609491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D9F65DE-2082-470A-98CE-DD967D05F82A}" type="datetimeFigureOut">
              <a:rPr lang="en-US" smtClean="0"/>
              <a:t>4/13/2024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4F01AAC-7B55-4AF3-8CBF-2FCF9D2701CD}" type="slidenum">
              <a:rPr lang="en-US" smtClean="0"/>
              <a:t>‹#›</a:t>
            </a:fld>
            <a:endParaRPr lang="en-US"/>
          </a:p>
        </p:txBody>
      </p:sp>
    </p:spTree>
    <p:extLst>
      <p:ext uri="{BB962C8B-B14F-4D97-AF65-F5344CB8AC3E}">
        <p14:creationId xmlns:p14="http://schemas.microsoft.com/office/powerpoint/2010/main" val="39130827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9F65DE-2082-470A-98CE-DD967D05F82A}" type="datetimeFigureOut">
              <a:rPr lang="en-US" smtClean="0"/>
              <a:t>4/13/2024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F01AAC-7B55-4AF3-8CBF-2FCF9D2701CD}" type="slidenum">
              <a:rPr lang="en-US" smtClean="0"/>
              <a:t>‹#›</a:t>
            </a:fld>
            <a:endParaRPr lang="en-US"/>
          </a:p>
        </p:txBody>
      </p:sp>
    </p:spTree>
    <p:extLst>
      <p:ext uri="{BB962C8B-B14F-4D97-AF65-F5344CB8AC3E}">
        <p14:creationId xmlns:p14="http://schemas.microsoft.com/office/powerpoint/2010/main" val="7223281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0D9F65DE-2082-470A-98CE-DD967D05F82A}" type="datetimeFigureOut">
              <a:rPr lang="en-US" smtClean="0"/>
              <a:t>4/13/2024</a:t>
            </a:fld>
            <a:endParaRPr lang="en-US"/>
          </a:p>
        </p:txBody>
      </p:sp>
      <p:sp>
        <p:nvSpPr>
          <p:cNvPr id="5" name="Footer Placeholder 4"/>
          <p:cNvSpPr>
            <a:spLocks noGrp="1"/>
          </p:cNvSpPr>
          <p:nvPr>
            <p:ph type="ftr" sz="quarter" idx="11"/>
          </p:nvPr>
        </p:nvSpPr>
        <p:spPr>
          <a:xfrm>
            <a:off x="685800" y="381000"/>
            <a:ext cx="6991492" cy="36512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84F01AAC-7B55-4AF3-8CBF-2FCF9D2701CD}" type="slidenum">
              <a:rPr lang="en-US" smtClean="0"/>
              <a:t>‹#›</a:t>
            </a:fld>
            <a:endParaRPr lang="en-US"/>
          </a:p>
        </p:txBody>
      </p:sp>
    </p:spTree>
    <p:extLst>
      <p:ext uri="{BB962C8B-B14F-4D97-AF65-F5344CB8AC3E}">
        <p14:creationId xmlns:p14="http://schemas.microsoft.com/office/powerpoint/2010/main" val="1623224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D9F65DE-2082-470A-98CE-DD967D05F82A}" type="datetimeFigureOut">
              <a:rPr lang="en-US" smtClean="0"/>
              <a:t>4/13/2024</a:t>
            </a:fld>
            <a:endParaRPr lang="en-US"/>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4F01AAC-7B55-4AF3-8CBF-2FCF9D2701CD}" type="slidenum">
              <a:rPr lang="en-US" smtClean="0"/>
              <a:t>‹#›</a:t>
            </a:fld>
            <a:endParaRPr lang="en-US"/>
          </a:p>
        </p:txBody>
      </p:sp>
    </p:spTree>
    <p:extLst>
      <p:ext uri="{BB962C8B-B14F-4D97-AF65-F5344CB8AC3E}">
        <p14:creationId xmlns:p14="http://schemas.microsoft.com/office/powerpoint/2010/main" val="3528729157"/>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dictionary.com/e/race-vs-ethnicity/" TargetMode="External"/><Relationship Id="rId7" Type="http://schemas.openxmlformats.org/officeDocument/2006/relationships/hyperlink" Target="https://www.berkeleywellbeing.com/identity.html" TargetMode="External"/><Relationship Id="rId2" Type="http://schemas.openxmlformats.org/officeDocument/2006/relationships/hyperlink" Target="https://socialsci.libretexts.org/Bookshelves/Political_Science_and_Civics/Introduction_to_Comparative_Government_and_Politics_(Bozonelos_et_al.)/07%3A_Political_Identity-_Nationalism_Religion_Class/7.03%3A_What_is_Religious_Identity" TargetMode="External"/><Relationship Id="rId1" Type="http://schemas.openxmlformats.org/officeDocument/2006/relationships/slideLayout" Target="../slideLayouts/slideLayout2.xml"/><Relationship Id="rId6" Type="http://schemas.openxmlformats.org/officeDocument/2006/relationships/hyperlink" Target="https://www.verywellmind.com/what-is-the-difference-between-gender-and-sexuality-5207899" TargetMode="External"/><Relationship Id="rId5" Type="http://schemas.openxmlformats.org/officeDocument/2006/relationships/hyperlink" Target="https://www.wework.com/ideas/professional-development/business-solutions/growth-mindset-definition-characteristics-and-examples" TargetMode="External"/><Relationship Id="rId4" Type="http://schemas.openxmlformats.org/officeDocument/2006/relationships/hyperlink" Target="https://www.simplypsychology.org/stereotype-threat.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DC4AF-B351-FCDC-C965-BFC927DA257B}"/>
              </a:ext>
            </a:extLst>
          </p:cNvPr>
          <p:cNvSpPr>
            <a:spLocks noGrp="1"/>
          </p:cNvSpPr>
          <p:nvPr>
            <p:ph type="ctrTitle"/>
          </p:nvPr>
        </p:nvSpPr>
        <p:spPr>
          <a:xfrm>
            <a:off x="1154955" y="1943100"/>
            <a:ext cx="8825658" cy="2348506"/>
          </a:xfrm>
        </p:spPr>
        <p:txBody>
          <a:bodyPr>
            <a:noAutofit/>
          </a:bodyPr>
          <a:lstStyle/>
          <a:p>
            <a:r>
              <a:rPr lang="en-US" sz="4800" dirty="0"/>
              <a:t>Addressing Intolerance and Promoting Growth in Diverse Learning Environments</a:t>
            </a:r>
          </a:p>
        </p:txBody>
      </p:sp>
      <p:sp>
        <p:nvSpPr>
          <p:cNvPr id="3" name="Subtitle 2">
            <a:extLst>
              <a:ext uri="{FF2B5EF4-FFF2-40B4-BE49-F238E27FC236}">
                <a16:creationId xmlns:a16="http://schemas.microsoft.com/office/drawing/2014/main" id="{342F0884-9AA5-8377-EF23-5ABEDC6D4E8D}"/>
              </a:ext>
            </a:extLst>
          </p:cNvPr>
          <p:cNvSpPr>
            <a:spLocks noGrp="1"/>
          </p:cNvSpPr>
          <p:nvPr>
            <p:ph type="subTitle" idx="1"/>
          </p:nvPr>
        </p:nvSpPr>
        <p:spPr>
          <a:xfrm>
            <a:off x="1154955" y="4815480"/>
            <a:ext cx="8825658" cy="861420"/>
          </a:xfrm>
        </p:spPr>
        <p:txBody>
          <a:bodyPr>
            <a:normAutofit fontScale="77500" lnSpcReduction="20000"/>
          </a:bodyPr>
          <a:lstStyle/>
          <a:p>
            <a:r>
              <a:rPr lang="en-US" dirty="0"/>
              <a:t>Frank Jamison</a:t>
            </a:r>
          </a:p>
          <a:p>
            <a:r>
              <a:rPr lang="en-US" dirty="0"/>
              <a:t>April 14, 2024</a:t>
            </a:r>
          </a:p>
          <a:p>
            <a:r>
              <a:rPr lang="en-US" dirty="0"/>
              <a:t>National University</a:t>
            </a:r>
          </a:p>
        </p:txBody>
      </p:sp>
    </p:spTree>
    <p:extLst>
      <p:ext uri="{BB962C8B-B14F-4D97-AF65-F5344CB8AC3E}">
        <p14:creationId xmlns:p14="http://schemas.microsoft.com/office/powerpoint/2010/main" val="721104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992B5-AB57-7CE3-3EF0-B0E5AF599CC9}"/>
              </a:ext>
            </a:extLst>
          </p:cNvPr>
          <p:cNvSpPr>
            <a:spLocks noGrp="1"/>
          </p:cNvSpPr>
          <p:nvPr>
            <p:ph type="title"/>
          </p:nvPr>
        </p:nvSpPr>
        <p:spPr>
          <a:xfrm>
            <a:off x="1141413" y="609600"/>
            <a:ext cx="9905998" cy="847726"/>
          </a:xfrm>
        </p:spPr>
        <p:txBody>
          <a:bodyPr/>
          <a:lstStyle/>
          <a:p>
            <a:r>
              <a:rPr lang="en-US" dirty="0"/>
              <a:t>Race &amp; Ethnicity</a:t>
            </a:r>
          </a:p>
        </p:txBody>
      </p:sp>
      <p:sp>
        <p:nvSpPr>
          <p:cNvPr id="3" name="Content Placeholder 2">
            <a:extLst>
              <a:ext uri="{FF2B5EF4-FFF2-40B4-BE49-F238E27FC236}">
                <a16:creationId xmlns:a16="http://schemas.microsoft.com/office/drawing/2014/main" id="{680033DE-DD27-6D5F-D55A-9820A1D46DDF}"/>
              </a:ext>
            </a:extLst>
          </p:cNvPr>
          <p:cNvSpPr>
            <a:spLocks noGrp="1"/>
          </p:cNvSpPr>
          <p:nvPr>
            <p:ph idx="1"/>
          </p:nvPr>
        </p:nvSpPr>
        <p:spPr>
          <a:xfrm>
            <a:off x="1103312" y="1457326"/>
            <a:ext cx="8946541" cy="4791074"/>
          </a:xfrm>
        </p:spPr>
        <p:txBody>
          <a:bodyPr>
            <a:normAutofit/>
          </a:bodyPr>
          <a:lstStyle/>
          <a:p>
            <a:r>
              <a:rPr lang="en-US" b="1" dirty="0"/>
              <a:t>Definition:</a:t>
            </a:r>
            <a:r>
              <a:rPr lang="en-US" dirty="0"/>
              <a:t> Racial and ethnic identity refers to a group of people identified by shared characteristics such as race, nationality, tribe, religious faith, shared language, or cultural heritage (Dictionary.com, n.d.).</a:t>
            </a:r>
          </a:p>
          <a:p>
            <a:r>
              <a:rPr lang="en-US" b="1" dirty="0"/>
              <a:t>Examples of Intolerance:</a:t>
            </a:r>
          </a:p>
          <a:p>
            <a:pPr marL="857250" lvl="1" indent="-457200">
              <a:buFont typeface="+mj-lt"/>
              <a:buAutoNum type="arabicPeriod"/>
            </a:pPr>
            <a:r>
              <a:rPr lang="en-US" dirty="0"/>
              <a:t>Racial profiling in school discipline.</a:t>
            </a:r>
          </a:p>
          <a:p>
            <a:pPr marL="857250" lvl="1" indent="-457200">
              <a:buFont typeface="+mj-lt"/>
              <a:buAutoNum type="arabicPeriod"/>
            </a:pPr>
            <a:r>
              <a:rPr lang="en-US" dirty="0"/>
              <a:t>Stereotyping in classroom discussions.</a:t>
            </a:r>
          </a:p>
          <a:p>
            <a:pPr marL="857250" lvl="1" indent="-457200">
              <a:buFont typeface="+mj-lt"/>
              <a:buAutoNum type="arabicPeriod"/>
            </a:pPr>
            <a:r>
              <a:rPr lang="en-US" dirty="0"/>
              <a:t>Underrepresentation in curriculum materials.</a:t>
            </a:r>
          </a:p>
          <a:p>
            <a:r>
              <a:rPr lang="en-US" b="1" dirty="0"/>
              <a:t>Strategies to Address Intolerance:</a:t>
            </a:r>
          </a:p>
          <a:p>
            <a:pPr marL="800100" lvl="1" indent="-342900">
              <a:buFont typeface="+mj-lt"/>
              <a:buAutoNum type="arabicPeriod"/>
            </a:pPr>
            <a:r>
              <a:rPr lang="en-US" dirty="0"/>
              <a:t>Implement inclusive curriculum that represents diverse histories.</a:t>
            </a:r>
          </a:p>
          <a:p>
            <a:pPr marL="800100" lvl="1" indent="-342900">
              <a:buFont typeface="+mj-lt"/>
              <a:buAutoNum type="arabicPeriod"/>
            </a:pPr>
            <a:r>
              <a:rPr lang="en-US" dirty="0"/>
              <a:t>Conduct regular diversity training for staff.</a:t>
            </a:r>
          </a:p>
          <a:p>
            <a:pPr marL="800100" lvl="1" indent="-342900">
              <a:buFont typeface="+mj-lt"/>
              <a:buAutoNum type="arabicPeriod"/>
            </a:pPr>
            <a:r>
              <a:rPr lang="en-US" dirty="0"/>
              <a:t>Establish a zero-tolerance policy for discriminatory behavior.</a:t>
            </a:r>
          </a:p>
          <a:p>
            <a:pPr marL="800100" lvl="1" indent="-342900">
              <a:buFont typeface="+mj-lt"/>
              <a:buAutoNum type="arabicPeriod"/>
            </a:pPr>
            <a:r>
              <a:rPr lang="en-US" dirty="0"/>
              <a:t>Encourage student-led diversity clubs and discussions.</a:t>
            </a:r>
          </a:p>
        </p:txBody>
      </p:sp>
    </p:spTree>
    <p:extLst>
      <p:ext uri="{BB962C8B-B14F-4D97-AF65-F5344CB8AC3E}">
        <p14:creationId xmlns:p14="http://schemas.microsoft.com/office/powerpoint/2010/main" val="1421896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24146-01FF-F167-DF14-DDA4CF27EB09}"/>
              </a:ext>
            </a:extLst>
          </p:cNvPr>
          <p:cNvSpPr>
            <a:spLocks noGrp="1"/>
          </p:cNvSpPr>
          <p:nvPr>
            <p:ph type="title"/>
          </p:nvPr>
        </p:nvSpPr>
        <p:spPr>
          <a:xfrm>
            <a:off x="2895600" y="764373"/>
            <a:ext cx="8610600" cy="635803"/>
          </a:xfrm>
        </p:spPr>
        <p:txBody>
          <a:bodyPr>
            <a:normAutofit fontScale="90000"/>
          </a:bodyPr>
          <a:lstStyle/>
          <a:p>
            <a:r>
              <a:rPr lang="en-US" dirty="0"/>
              <a:t>Religion</a:t>
            </a:r>
          </a:p>
        </p:txBody>
      </p:sp>
      <p:sp>
        <p:nvSpPr>
          <p:cNvPr id="3" name="Content Placeholder 2">
            <a:extLst>
              <a:ext uri="{FF2B5EF4-FFF2-40B4-BE49-F238E27FC236}">
                <a16:creationId xmlns:a16="http://schemas.microsoft.com/office/drawing/2014/main" id="{152326D7-9379-C0D2-31E5-6A92A4DB7D65}"/>
              </a:ext>
            </a:extLst>
          </p:cNvPr>
          <p:cNvSpPr>
            <a:spLocks noGrp="1"/>
          </p:cNvSpPr>
          <p:nvPr>
            <p:ph idx="1"/>
          </p:nvPr>
        </p:nvSpPr>
        <p:spPr>
          <a:xfrm>
            <a:off x="1103312" y="1400176"/>
            <a:ext cx="8946541" cy="4848224"/>
          </a:xfrm>
        </p:spPr>
        <p:txBody>
          <a:bodyPr>
            <a:normAutofit/>
          </a:bodyPr>
          <a:lstStyle/>
          <a:p>
            <a:r>
              <a:rPr lang="en-US" b="1" dirty="0"/>
              <a:t>Definition:</a:t>
            </a:r>
            <a:r>
              <a:rPr lang="en-US" dirty="0"/>
              <a:t> Religious identity is how a person or group of persons think of themselves as belonging to and representing the values of a particular religion and/or religious sect (</a:t>
            </a:r>
            <a:r>
              <a:rPr lang="en-US" dirty="0" err="1"/>
              <a:t>Bozonelos</a:t>
            </a:r>
            <a:r>
              <a:rPr lang="en-US" dirty="0"/>
              <a:t> et al., 2022).</a:t>
            </a:r>
          </a:p>
          <a:p>
            <a:r>
              <a:rPr lang="en-US" b="1" dirty="0"/>
              <a:t>Examples of Intolerance:</a:t>
            </a:r>
          </a:p>
          <a:p>
            <a:pPr marL="857250" lvl="1" indent="-457200">
              <a:buFont typeface="+mj-lt"/>
              <a:buAutoNum type="arabicPeriod"/>
            </a:pPr>
            <a:r>
              <a:rPr lang="en-US" dirty="0"/>
              <a:t>Exclusion of religious holidays in school calendars.</a:t>
            </a:r>
          </a:p>
          <a:p>
            <a:pPr marL="857250" lvl="1" indent="-457200">
              <a:buFont typeface="+mj-lt"/>
              <a:buAutoNum type="arabicPeriod"/>
            </a:pPr>
            <a:r>
              <a:rPr lang="en-US" dirty="0"/>
              <a:t>Harassment over religious dress codes.</a:t>
            </a:r>
          </a:p>
          <a:p>
            <a:pPr marL="857250" lvl="1" indent="-457200">
              <a:buFont typeface="+mj-lt"/>
              <a:buAutoNum type="arabicPeriod"/>
            </a:pPr>
            <a:r>
              <a:rPr lang="en-US" dirty="0"/>
              <a:t>Bias in teaching about different religions.</a:t>
            </a:r>
          </a:p>
          <a:p>
            <a:r>
              <a:rPr lang="en-US" b="1" dirty="0"/>
              <a:t>Strategies to Address Intolerance:</a:t>
            </a:r>
          </a:p>
          <a:p>
            <a:pPr marL="857250" lvl="1" indent="-457200">
              <a:buFont typeface="+mj-lt"/>
              <a:buAutoNum type="arabicPeriod"/>
            </a:pPr>
            <a:r>
              <a:rPr lang="en-US" dirty="0"/>
              <a:t>Include major religious holidays in the school calendar.</a:t>
            </a:r>
          </a:p>
          <a:p>
            <a:pPr marL="857250" lvl="1" indent="-457200">
              <a:buFont typeface="+mj-lt"/>
              <a:buAutoNum type="arabicPeriod"/>
            </a:pPr>
            <a:r>
              <a:rPr lang="en-US" dirty="0"/>
              <a:t>Respect religious dress codes and dietary needs.</a:t>
            </a:r>
          </a:p>
          <a:p>
            <a:pPr marL="857250" lvl="1" indent="-457200">
              <a:buFont typeface="+mj-lt"/>
              <a:buAutoNum type="arabicPeriod"/>
            </a:pPr>
            <a:r>
              <a:rPr lang="en-US" dirty="0"/>
              <a:t>Educate about different religions with sensitivity.</a:t>
            </a:r>
          </a:p>
          <a:p>
            <a:pPr marL="857250" lvl="1" indent="-457200">
              <a:buFont typeface="+mj-lt"/>
              <a:buAutoNum type="arabicPeriod"/>
            </a:pPr>
            <a:r>
              <a:rPr lang="en-US" dirty="0"/>
              <a:t>Promote interfaith dialogue and activities.</a:t>
            </a:r>
          </a:p>
        </p:txBody>
      </p:sp>
    </p:spTree>
    <p:extLst>
      <p:ext uri="{BB962C8B-B14F-4D97-AF65-F5344CB8AC3E}">
        <p14:creationId xmlns:p14="http://schemas.microsoft.com/office/powerpoint/2010/main" val="4088301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FCBC3-E4E4-AE69-C0E9-A3654E7E9759}"/>
              </a:ext>
            </a:extLst>
          </p:cNvPr>
          <p:cNvSpPr>
            <a:spLocks noGrp="1"/>
          </p:cNvSpPr>
          <p:nvPr>
            <p:ph type="title"/>
          </p:nvPr>
        </p:nvSpPr>
        <p:spPr>
          <a:xfrm>
            <a:off x="2895600" y="764373"/>
            <a:ext cx="8610600" cy="626277"/>
          </a:xfrm>
        </p:spPr>
        <p:txBody>
          <a:bodyPr>
            <a:normAutofit fontScale="90000"/>
          </a:bodyPr>
          <a:lstStyle/>
          <a:p>
            <a:r>
              <a:rPr lang="en-US" dirty="0"/>
              <a:t>Gender and Sexual Identity</a:t>
            </a:r>
          </a:p>
        </p:txBody>
      </p:sp>
      <p:sp>
        <p:nvSpPr>
          <p:cNvPr id="3" name="Content Placeholder 2">
            <a:extLst>
              <a:ext uri="{FF2B5EF4-FFF2-40B4-BE49-F238E27FC236}">
                <a16:creationId xmlns:a16="http://schemas.microsoft.com/office/drawing/2014/main" id="{CBD3BFB0-D4A6-11D3-90F7-6FBA062A8CA1}"/>
              </a:ext>
            </a:extLst>
          </p:cNvPr>
          <p:cNvSpPr>
            <a:spLocks noGrp="1"/>
          </p:cNvSpPr>
          <p:nvPr>
            <p:ph idx="1"/>
          </p:nvPr>
        </p:nvSpPr>
        <p:spPr>
          <a:xfrm>
            <a:off x="1103312" y="1390650"/>
            <a:ext cx="8946541" cy="4857749"/>
          </a:xfrm>
        </p:spPr>
        <p:txBody>
          <a:bodyPr>
            <a:normAutofit/>
          </a:bodyPr>
          <a:lstStyle/>
          <a:p>
            <a:r>
              <a:rPr lang="en-US" b="1" dirty="0"/>
              <a:t>Definition: </a:t>
            </a:r>
            <a:r>
              <a:rPr lang="en-US" dirty="0"/>
              <a:t>Gender and sexual identity refer to an individual's personal sense of their own gender and sexual orientation, which may or may not correspond to the sex assigned at birth (Vinney, 2023).</a:t>
            </a:r>
          </a:p>
          <a:p>
            <a:r>
              <a:rPr lang="en-US" b="1" dirty="0"/>
              <a:t>Examples of Intolerance:</a:t>
            </a:r>
          </a:p>
          <a:p>
            <a:pPr marL="857250" lvl="1" indent="-457200">
              <a:buFont typeface="+mj-lt"/>
              <a:buAutoNum type="arabicPeriod"/>
            </a:pPr>
            <a:r>
              <a:rPr lang="en-US" dirty="0"/>
              <a:t>Bullying based on gender expression or sexual orientation.</a:t>
            </a:r>
          </a:p>
          <a:p>
            <a:pPr marL="857250" lvl="1" indent="-457200">
              <a:buFont typeface="+mj-lt"/>
              <a:buAutoNum type="arabicPeriod"/>
            </a:pPr>
            <a:r>
              <a:rPr lang="en-US" dirty="0"/>
              <a:t>Lack of support for transgender students.</a:t>
            </a:r>
          </a:p>
          <a:p>
            <a:pPr marL="857250" lvl="1" indent="-457200">
              <a:buFont typeface="+mj-lt"/>
              <a:buAutoNum type="arabicPeriod"/>
            </a:pPr>
            <a:r>
              <a:rPr lang="en-US" dirty="0"/>
              <a:t>Gender stereotyping in roles and expectations.</a:t>
            </a:r>
          </a:p>
          <a:p>
            <a:r>
              <a:rPr lang="en-US" b="1" dirty="0"/>
              <a:t>Strategies to Address Intolerance:</a:t>
            </a:r>
          </a:p>
          <a:p>
            <a:pPr marL="857250" lvl="1" indent="-457200">
              <a:buFont typeface="+mj-lt"/>
              <a:buAutoNum type="arabicPeriod"/>
            </a:pPr>
            <a:r>
              <a:rPr lang="en-US" dirty="0"/>
              <a:t>Support LGBTQ+ student groups.</a:t>
            </a:r>
          </a:p>
          <a:p>
            <a:pPr marL="857250" lvl="1" indent="-457200">
              <a:buFont typeface="+mj-lt"/>
              <a:buAutoNum type="arabicPeriod"/>
            </a:pPr>
            <a:r>
              <a:rPr lang="en-US" dirty="0"/>
              <a:t>Provide gender-neutral bathrooms and policies.</a:t>
            </a:r>
          </a:p>
          <a:p>
            <a:pPr marL="857250" lvl="1" indent="-457200">
              <a:buFont typeface="+mj-lt"/>
              <a:buAutoNum type="arabicPeriod"/>
            </a:pPr>
            <a:r>
              <a:rPr lang="en-US" dirty="0"/>
              <a:t>Conduct sensitivity training focused on LGBTQ+ issues.</a:t>
            </a:r>
          </a:p>
          <a:p>
            <a:pPr marL="857250" lvl="1" indent="-457200">
              <a:buFont typeface="+mj-lt"/>
              <a:buAutoNum type="arabicPeriod"/>
            </a:pPr>
            <a:r>
              <a:rPr lang="en-US" dirty="0"/>
              <a:t>Enforce anti-bullying policies strictly.</a:t>
            </a:r>
          </a:p>
        </p:txBody>
      </p:sp>
    </p:spTree>
    <p:extLst>
      <p:ext uri="{BB962C8B-B14F-4D97-AF65-F5344CB8AC3E}">
        <p14:creationId xmlns:p14="http://schemas.microsoft.com/office/powerpoint/2010/main" val="1981265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5B833-02B9-6E5E-BAB3-3F03DB3EFB0D}"/>
              </a:ext>
            </a:extLst>
          </p:cNvPr>
          <p:cNvSpPr>
            <a:spLocks noGrp="1"/>
          </p:cNvSpPr>
          <p:nvPr>
            <p:ph type="title"/>
          </p:nvPr>
        </p:nvSpPr>
        <p:spPr>
          <a:xfrm>
            <a:off x="2895600" y="764373"/>
            <a:ext cx="8610600" cy="626277"/>
          </a:xfrm>
        </p:spPr>
        <p:txBody>
          <a:bodyPr>
            <a:normAutofit fontScale="90000"/>
          </a:bodyPr>
          <a:lstStyle/>
          <a:p>
            <a:r>
              <a:rPr lang="en-US" dirty="0"/>
              <a:t>Class</a:t>
            </a:r>
          </a:p>
        </p:txBody>
      </p:sp>
      <p:sp>
        <p:nvSpPr>
          <p:cNvPr id="3" name="Content Placeholder 2">
            <a:extLst>
              <a:ext uri="{FF2B5EF4-FFF2-40B4-BE49-F238E27FC236}">
                <a16:creationId xmlns:a16="http://schemas.microsoft.com/office/drawing/2014/main" id="{6D4C219B-97C8-A3B1-AD0E-C950AD0F80D7}"/>
              </a:ext>
            </a:extLst>
          </p:cNvPr>
          <p:cNvSpPr>
            <a:spLocks noGrp="1"/>
          </p:cNvSpPr>
          <p:nvPr>
            <p:ph idx="1"/>
          </p:nvPr>
        </p:nvSpPr>
        <p:spPr>
          <a:xfrm>
            <a:off x="1103312" y="1390650"/>
            <a:ext cx="8946541" cy="4857749"/>
          </a:xfrm>
        </p:spPr>
        <p:txBody>
          <a:bodyPr>
            <a:normAutofit/>
          </a:bodyPr>
          <a:lstStyle/>
          <a:p>
            <a:r>
              <a:rPr lang="en-US" b="1" dirty="0"/>
              <a:t>Definition: </a:t>
            </a:r>
            <a:r>
              <a:rPr lang="en-US" dirty="0"/>
              <a:t>Socioeconomic identity includes education, career, and class identities. It depends on a person’s income and occupation, which typically reflect their level of education. Generally, socioeconomic identity indicates social status, economic welfare, and prestige (Yilmaz, n.d.). </a:t>
            </a:r>
          </a:p>
          <a:p>
            <a:r>
              <a:rPr lang="en-US" b="1" dirty="0"/>
              <a:t>Examples of Intolerance:</a:t>
            </a:r>
          </a:p>
          <a:p>
            <a:pPr marL="857250" lvl="1" indent="-457200">
              <a:buFont typeface="+mj-lt"/>
              <a:buAutoNum type="arabicPeriod"/>
            </a:pPr>
            <a:r>
              <a:rPr lang="en-US" dirty="0"/>
              <a:t>Stigma attached to scholarship or aid recipients.</a:t>
            </a:r>
          </a:p>
          <a:p>
            <a:pPr marL="857250" lvl="1" indent="-457200">
              <a:buFont typeface="+mj-lt"/>
              <a:buAutoNum type="arabicPeriod"/>
            </a:pPr>
            <a:r>
              <a:rPr lang="en-US" dirty="0"/>
              <a:t>Assumptions about capabilities based on economic status.</a:t>
            </a:r>
          </a:p>
          <a:p>
            <a:pPr marL="857250" lvl="1" indent="-457200">
              <a:buFont typeface="+mj-lt"/>
              <a:buAutoNum type="arabicPeriod"/>
            </a:pPr>
            <a:r>
              <a:rPr lang="en-US" dirty="0"/>
              <a:t>Limited access to technology or resources.</a:t>
            </a:r>
          </a:p>
          <a:p>
            <a:r>
              <a:rPr lang="en-US" b="1" dirty="0"/>
              <a:t>Strategies to Address Intolerance:</a:t>
            </a:r>
          </a:p>
          <a:p>
            <a:pPr marL="857250" lvl="1" indent="-457200">
              <a:buFont typeface="+mj-lt"/>
              <a:buAutoNum type="arabicPeriod"/>
            </a:pPr>
            <a:r>
              <a:rPr lang="en-US" dirty="0"/>
              <a:t>Provide equitable access to resources and technology.</a:t>
            </a:r>
          </a:p>
          <a:p>
            <a:pPr marL="857250" lvl="1" indent="-457200">
              <a:buFont typeface="+mj-lt"/>
              <a:buAutoNum type="arabicPeriod"/>
            </a:pPr>
            <a:r>
              <a:rPr lang="en-US" dirty="0"/>
              <a:t>Raise awareness about socioeconomic diversity.</a:t>
            </a:r>
          </a:p>
          <a:p>
            <a:pPr marL="857250" lvl="1" indent="-457200">
              <a:buFont typeface="+mj-lt"/>
              <a:buAutoNum type="arabicPeriod"/>
            </a:pPr>
            <a:r>
              <a:rPr lang="en-US" dirty="0"/>
              <a:t>Offer scholarships and financial aid transparently.</a:t>
            </a:r>
          </a:p>
          <a:p>
            <a:pPr marL="857250" lvl="1" indent="-457200">
              <a:buFont typeface="+mj-lt"/>
              <a:buAutoNum type="arabicPeriod"/>
            </a:pPr>
            <a:r>
              <a:rPr lang="en-US" dirty="0"/>
              <a:t>Promote programs that bridge the educational divide.</a:t>
            </a:r>
          </a:p>
        </p:txBody>
      </p:sp>
    </p:spTree>
    <p:extLst>
      <p:ext uri="{BB962C8B-B14F-4D97-AF65-F5344CB8AC3E}">
        <p14:creationId xmlns:p14="http://schemas.microsoft.com/office/powerpoint/2010/main" val="3116069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59212-E674-0876-6268-8B32EF4C4749}"/>
              </a:ext>
            </a:extLst>
          </p:cNvPr>
          <p:cNvSpPr>
            <a:spLocks noGrp="1"/>
          </p:cNvSpPr>
          <p:nvPr>
            <p:ph type="title"/>
          </p:nvPr>
        </p:nvSpPr>
        <p:spPr>
          <a:xfrm>
            <a:off x="2895600" y="764373"/>
            <a:ext cx="8610600" cy="683427"/>
          </a:xfrm>
        </p:spPr>
        <p:txBody>
          <a:bodyPr/>
          <a:lstStyle/>
          <a:p>
            <a:r>
              <a:rPr lang="en-US" dirty="0"/>
              <a:t>Stereotype Threat</a:t>
            </a:r>
          </a:p>
        </p:txBody>
      </p:sp>
      <p:sp>
        <p:nvSpPr>
          <p:cNvPr id="3" name="Content Placeholder 2">
            <a:extLst>
              <a:ext uri="{FF2B5EF4-FFF2-40B4-BE49-F238E27FC236}">
                <a16:creationId xmlns:a16="http://schemas.microsoft.com/office/drawing/2014/main" id="{C85D25AC-552E-6B7A-E6CC-93A2C4181028}"/>
              </a:ext>
            </a:extLst>
          </p:cNvPr>
          <p:cNvSpPr>
            <a:spLocks noGrp="1"/>
          </p:cNvSpPr>
          <p:nvPr>
            <p:ph idx="1"/>
          </p:nvPr>
        </p:nvSpPr>
        <p:spPr>
          <a:xfrm>
            <a:off x="1103312" y="1447800"/>
            <a:ext cx="8946541" cy="4800599"/>
          </a:xfrm>
        </p:spPr>
        <p:txBody>
          <a:bodyPr/>
          <a:lstStyle/>
          <a:p>
            <a:r>
              <a:rPr lang="en-US" dirty="0"/>
              <a:t>Stereotype threat is when individuals fear they may confirm negative stereotypes about their social group. </a:t>
            </a:r>
          </a:p>
          <a:p>
            <a:endParaRPr lang="en-US" dirty="0"/>
          </a:p>
          <a:p>
            <a:r>
              <a:rPr lang="en-US" dirty="0"/>
              <a:t>This fear can negatively affect their performance and reinforce the stereotype, creating a self-fulfilling prophecy. </a:t>
            </a:r>
          </a:p>
          <a:p>
            <a:endParaRPr lang="en-US" dirty="0"/>
          </a:p>
          <a:p>
            <a:r>
              <a:rPr lang="en-US" dirty="0"/>
              <a:t>It can impact various domains, notably academic and professional performance.</a:t>
            </a:r>
          </a:p>
          <a:p>
            <a:endParaRPr lang="en-US" dirty="0"/>
          </a:p>
          <a:p>
            <a:pPr marL="0" indent="0" algn="r">
              <a:buNone/>
            </a:pPr>
            <a:r>
              <a:rPr lang="en-US" dirty="0"/>
              <a:t>(</a:t>
            </a:r>
            <a:r>
              <a:rPr lang="en-US" dirty="0" err="1"/>
              <a:t>Heaning</a:t>
            </a:r>
            <a:r>
              <a:rPr lang="en-US" dirty="0"/>
              <a:t>, 2023)</a:t>
            </a:r>
          </a:p>
        </p:txBody>
      </p:sp>
    </p:spTree>
    <p:extLst>
      <p:ext uri="{BB962C8B-B14F-4D97-AF65-F5344CB8AC3E}">
        <p14:creationId xmlns:p14="http://schemas.microsoft.com/office/powerpoint/2010/main" val="1604811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78F47-0A90-DF3B-BF83-7CA5CF5BD436}"/>
              </a:ext>
            </a:extLst>
          </p:cNvPr>
          <p:cNvSpPr>
            <a:spLocks noGrp="1"/>
          </p:cNvSpPr>
          <p:nvPr>
            <p:ph type="title"/>
          </p:nvPr>
        </p:nvSpPr>
        <p:spPr>
          <a:xfrm>
            <a:off x="2895600" y="764373"/>
            <a:ext cx="8610600" cy="635803"/>
          </a:xfrm>
        </p:spPr>
        <p:txBody>
          <a:bodyPr>
            <a:normAutofit fontScale="90000"/>
          </a:bodyPr>
          <a:lstStyle/>
          <a:p>
            <a:r>
              <a:rPr lang="en-US" dirty="0"/>
              <a:t>Addressing Stereotype Threat</a:t>
            </a:r>
          </a:p>
        </p:txBody>
      </p:sp>
      <p:sp>
        <p:nvSpPr>
          <p:cNvPr id="3" name="Content Placeholder 2">
            <a:extLst>
              <a:ext uri="{FF2B5EF4-FFF2-40B4-BE49-F238E27FC236}">
                <a16:creationId xmlns:a16="http://schemas.microsoft.com/office/drawing/2014/main" id="{B8724400-B8E5-38F5-A1CC-45815896BD38}"/>
              </a:ext>
            </a:extLst>
          </p:cNvPr>
          <p:cNvSpPr>
            <a:spLocks noGrp="1"/>
          </p:cNvSpPr>
          <p:nvPr>
            <p:ph idx="1"/>
          </p:nvPr>
        </p:nvSpPr>
        <p:spPr>
          <a:xfrm>
            <a:off x="1103312" y="1400176"/>
            <a:ext cx="8946541" cy="4848224"/>
          </a:xfrm>
        </p:spPr>
        <p:txBody>
          <a:bodyPr/>
          <a:lstStyle/>
          <a:p>
            <a:r>
              <a:rPr lang="en-US" b="1" dirty="0"/>
              <a:t>Strategies:</a:t>
            </a:r>
          </a:p>
          <a:p>
            <a:endParaRPr lang="en-US" b="1" dirty="0"/>
          </a:p>
          <a:p>
            <a:pPr marL="685800" lvl="1" indent="-342900">
              <a:buFont typeface="+mj-lt"/>
              <a:buAutoNum type="arabicPeriod"/>
            </a:pPr>
            <a:r>
              <a:rPr lang="en-US" dirty="0"/>
              <a:t>Foster a positive and inclusive classroom culture.</a:t>
            </a:r>
          </a:p>
          <a:p>
            <a:pPr lvl="1" indent="-342900">
              <a:buFont typeface="+mj-lt"/>
              <a:buAutoNum type="arabicPeriod"/>
            </a:pPr>
            <a:endParaRPr lang="en-US" dirty="0"/>
          </a:p>
          <a:p>
            <a:pPr marL="685800" lvl="1" indent="-342900">
              <a:buFont typeface="+mj-lt"/>
              <a:buAutoNum type="arabicPeriod"/>
            </a:pPr>
            <a:r>
              <a:rPr lang="en-US" dirty="0"/>
              <a:t>Use affirming language that values all student contributions.</a:t>
            </a:r>
          </a:p>
          <a:p>
            <a:pPr lvl="1" indent="-342900">
              <a:buFont typeface="+mj-lt"/>
              <a:buAutoNum type="arabicPeriod"/>
            </a:pPr>
            <a:endParaRPr lang="en-US" dirty="0"/>
          </a:p>
          <a:p>
            <a:pPr marL="685800" lvl="1" indent="-342900">
              <a:buFont typeface="+mj-lt"/>
              <a:buAutoNum type="arabicPeriod"/>
            </a:pPr>
            <a:r>
              <a:rPr lang="en-US" dirty="0"/>
              <a:t>Teach about stereotype threat to raise awareness.</a:t>
            </a:r>
          </a:p>
          <a:p>
            <a:pPr lvl="1" indent="-342900">
              <a:buFont typeface="+mj-lt"/>
              <a:buAutoNum type="arabicPeriod"/>
            </a:pPr>
            <a:endParaRPr lang="en-US" dirty="0"/>
          </a:p>
          <a:p>
            <a:pPr marL="685800" lvl="1" indent="-342900">
              <a:buFont typeface="+mj-lt"/>
              <a:buAutoNum type="arabicPeriod"/>
            </a:pPr>
            <a:r>
              <a:rPr lang="en-US" dirty="0"/>
              <a:t>Implement assessment methods that reduce pressure and bias.</a:t>
            </a:r>
          </a:p>
        </p:txBody>
      </p:sp>
    </p:spTree>
    <p:extLst>
      <p:ext uri="{BB962C8B-B14F-4D97-AF65-F5344CB8AC3E}">
        <p14:creationId xmlns:p14="http://schemas.microsoft.com/office/powerpoint/2010/main" val="44002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448BD-4AB7-14CF-4F81-954E2F620346}"/>
              </a:ext>
            </a:extLst>
          </p:cNvPr>
          <p:cNvSpPr>
            <a:spLocks noGrp="1"/>
          </p:cNvSpPr>
          <p:nvPr>
            <p:ph type="title"/>
          </p:nvPr>
        </p:nvSpPr>
        <p:spPr>
          <a:xfrm>
            <a:off x="2895600" y="764374"/>
            <a:ext cx="8610600" cy="597702"/>
          </a:xfrm>
        </p:spPr>
        <p:txBody>
          <a:bodyPr>
            <a:normAutofit fontScale="90000"/>
          </a:bodyPr>
          <a:lstStyle/>
          <a:p>
            <a:r>
              <a:rPr lang="en-US" dirty="0"/>
              <a:t>Growth Mindset</a:t>
            </a:r>
          </a:p>
        </p:txBody>
      </p:sp>
      <p:sp>
        <p:nvSpPr>
          <p:cNvPr id="3" name="Content Placeholder 2">
            <a:extLst>
              <a:ext uri="{FF2B5EF4-FFF2-40B4-BE49-F238E27FC236}">
                <a16:creationId xmlns:a16="http://schemas.microsoft.com/office/drawing/2014/main" id="{BA24EF0D-D928-12A3-6F0D-BC98C8A1A873}"/>
              </a:ext>
            </a:extLst>
          </p:cNvPr>
          <p:cNvSpPr>
            <a:spLocks noGrp="1"/>
          </p:cNvSpPr>
          <p:nvPr>
            <p:ph idx="1"/>
          </p:nvPr>
        </p:nvSpPr>
        <p:spPr/>
        <p:txBody>
          <a:bodyPr/>
          <a:lstStyle/>
          <a:p>
            <a:r>
              <a:rPr lang="en-US" dirty="0"/>
              <a:t>Having a growth mindset means believing that a person’s abilities aren’t innate but can be improved through effort, learning, and persistence. </a:t>
            </a:r>
          </a:p>
          <a:p>
            <a:endParaRPr lang="en-US" dirty="0"/>
          </a:p>
          <a:p>
            <a:r>
              <a:rPr lang="en-US" dirty="0"/>
              <a:t>A growth mindset is all about the attitude with which a person faces challenges, how they process failures, and how they adapt and evolve as a result</a:t>
            </a:r>
          </a:p>
          <a:p>
            <a:endParaRPr lang="en-US" dirty="0"/>
          </a:p>
          <a:p>
            <a:pPr marL="0" indent="0" algn="r">
              <a:buNone/>
            </a:pPr>
            <a:r>
              <a:rPr lang="en-US" dirty="0"/>
              <a:t>(Steve </a:t>
            </a:r>
            <a:r>
              <a:rPr lang="en-US" dirty="0" err="1"/>
              <a:t>Hogarty</a:t>
            </a:r>
            <a:r>
              <a:rPr lang="en-US" dirty="0"/>
              <a:t>, 2022)</a:t>
            </a:r>
          </a:p>
        </p:txBody>
      </p:sp>
    </p:spTree>
    <p:extLst>
      <p:ext uri="{BB962C8B-B14F-4D97-AF65-F5344CB8AC3E}">
        <p14:creationId xmlns:p14="http://schemas.microsoft.com/office/powerpoint/2010/main" val="2017571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69B2-7E56-046F-E28B-FF15CB347194}"/>
              </a:ext>
            </a:extLst>
          </p:cNvPr>
          <p:cNvSpPr>
            <a:spLocks noGrp="1"/>
          </p:cNvSpPr>
          <p:nvPr>
            <p:ph type="title"/>
          </p:nvPr>
        </p:nvSpPr>
        <p:spPr>
          <a:xfrm>
            <a:off x="2895600" y="764373"/>
            <a:ext cx="8610600" cy="616753"/>
          </a:xfrm>
        </p:spPr>
        <p:txBody>
          <a:bodyPr>
            <a:normAutofit fontScale="90000"/>
          </a:bodyPr>
          <a:lstStyle/>
          <a:p>
            <a:r>
              <a:rPr lang="en-US" dirty="0"/>
              <a:t>Promoting Growth Mindset</a:t>
            </a:r>
          </a:p>
        </p:txBody>
      </p:sp>
      <p:sp>
        <p:nvSpPr>
          <p:cNvPr id="3" name="Content Placeholder 2">
            <a:extLst>
              <a:ext uri="{FF2B5EF4-FFF2-40B4-BE49-F238E27FC236}">
                <a16:creationId xmlns:a16="http://schemas.microsoft.com/office/drawing/2014/main" id="{6090C474-0645-7BED-1D12-03D28BA50040}"/>
              </a:ext>
            </a:extLst>
          </p:cNvPr>
          <p:cNvSpPr>
            <a:spLocks noGrp="1"/>
          </p:cNvSpPr>
          <p:nvPr>
            <p:ph idx="1"/>
          </p:nvPr>
        </p:nvSpPr>
        <p:spPr>
          <a:xfrm>
            <a:off x="1103312" y="1381126"/>
            <a:ext cx="8946541" cy="4867274"/>
          </a:xfrm>
        </p:spPr>
        <p:txBody>
          <a:bodyPr/>
          <a:lstStyle/>
          <a:p>
            <a:r>
              <a:rPr lang="en-US" b="1" dirty="0"/>
              <a:t>Strategies:</a:t>
            </a:r>
          </a:p>
          <a:p>
            <a:endParaRPr lang="en-US" b="1" dirty="0"/>
          </a:p>
          <a:p>
            <a:pPr marL="685800" lvl="1" indent="-342900">
              <a:buFont typeface="+mj-lt"/>
              <a:buAutoNum type="arabicPeriod"/>
            </a:pPr>
            <a:r>
              <a:rPr lang="en-US" dirty="0"/>
              <a:t>Praise effort, not just innate ability.</a:t>
            </a:r>
          </a:p>
          <a:p>
            <a:pPr marL="857250" lvl="1" indent="-342900">
              <a:buFont typeface="+mj-lt"/>
              <a:buAutoNum type="arabicPeriod"/>
            </a:pPr>
            <a:endParaRPr lang="en-US" dirty="0"/>
          </a:p>
          <a:p>
            <a:pPr marL="685800" lvl="1" indent="-342900">
              <a:buFont typeface="+mj-lt"/>
              <a:buAutoNum type="arabicPeriod"/>
            </a:pPr>
            <a:r>
              <a:rPr lang="en-US" dirty="0"/>
              <a:t>Encourage students to set personal learning goals.</a:t>
            </a:r>
          </a:p>
          <a:p>
            <a:pPr marL="857250" lvl="1" indent="-342900">
              <a:buFont typeface="+mj-lt"/>
              <a:buAutoNum type="arabicPeriod"/>
            </a:pPr>
            <a:endParaRPr lang="en-US" dirty="0"/>
          </a:p>
          <a:p>
            <a:pPr marL="685800" lvl="1" indent="-342900">
              <a:buFont typeface="+mj-lt"/>
              <a:buAutoNum type="arabicPeriod"/>
            </a:pPr>
            <a:r>
              <a:rPr lang="en-US" dirty="0"/>
              <a:t>Use challenges as learning opportunities.</a:t>
            </a:r>
          </a:p>
          <a:p>
            <a:pPr marL="857250" lvl="1" indent="-342900">
              <a:buFont typeface="+mj-lt"/>
              <a:buAutoNum type="arabicPeriod"/>
            </a:pPr>
            <a:endParaRPr lang="en-US" dirty="0"/>
          </a:p>
          <a:p>
            <a:pPr marL="685800" lvl="1" indent="-342900">
              <a:buFont typeface="+mj-lt"/>
              <a:buAutoNum type="arabicPeriod"/>
            </a:pPr>
            <a:r>
              <a:rPr lang="en-US" dirty="0"/>
              <a:t>Provide constructive feedback that focuses on process and improvement.</a:t>
            </a:r>
          </a:p>
        </p:txBody>
      </p:sp>
    </p:spTree>
    <p:extLst>
      <p:ext uri="{BB962C8B-B14F-4D97-AF65-F5344CB8AC3E}">
        <p14:creationId xmlns:p14="http://schemas.microsoft.com/office/powerpoint/2010/main" val="771060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4C5B9-262D-9567-EF83-21917B586F4C}"/>
              </a:ext>
            </a:extLst>
          </p:cNvPr>
          <p:cNvSpPr>
            <a:spLocks noGrp="1"/>
          </p:cNvSpPr>
          <p:nvPr>
            <p:ph type="title"/>
          </p:nvPr>
        </p:nvSpPr>
        <p:spPr>
          <a:xfrm>
            <a:off x="2895600" y="764373"/>
            <a:ext cx="8610600" cy="540553"/>
          </a:xfrm>
        </p:spPr>
        <p:txBody>
          <a:bodyPr>
            <a:normAutofit fontScale="90000"/>
          </a:bodyPr>
          <a:lstStyle/>
          <a:p>
            <a:r>
              <a:rPr lang="en-US" dirty="0"/>
              <a:t>Reflection on Learning</a:t>
            </a:r>
          </a:p>
        </p:txBody>
      </p:sp>
      <p:sp>
        <p:nvSpPr>
          <p:cNvPr id="3" name="Content Placeholder 2">
            <a:extLst>
              <a:ext uri="{FF2B5EF4-FFF2-40B4-BE49-F238E27FC236}">
                <a16:creationId xmlns:a16="http://schemas.microsoft.com/office/drawing/2014/main" id="{367C9C7A-6F87-6E13-B31A-83ACF8AD54EB}"/>
              </a:ext>
            </a:extLst>
          </p:cNvPr>
          <p:cNvSpPr>
            <a:spLocks noGrp="1"/>
          </p:cNvSpPr>
          <p:nvPr>
            <p:ph idx="1"/>
          </p:nvPr>
        </p:nvSpPr>
        <p:spPr>
          <a:xfrm>
            <a:off x="1103312" y="1304926"/>
            <a:ext cx="8946541" cy="5100356"/>
          </a:xfrm>
        </p:spPr>
        <p:txBody>
          <a:bodyPr>
            <a:normAutofit fontScale="85000" lnSpcReduction="20000"/>
          </a:bodyPr>
          <a:lstStyle/>
          <a:p>
            <a:r>
              <a:rPr lang="en-US" b="1" dirty="0"/>
              <a:t>New Insights Gained:</a:t>
            </a:r>
          </a:p>
          <a:p>
            <a:pPr marL="857250" lvl="1" indent="-457200">
              <a:buFont typeface="+mj-lt"/>
              <a:buAutoNum type="arabicPeriod"/>
            </a:pPr>
            <a:r>
              <a:rPr lang="en-US" dirty="0"/>
              <a:t>Understanding the deep impact of intolerance on students' academic and emotional well-being.</a:t>
            </a:r>
          </a:p>
          <a:p>
            <a:pPr marL="857250" lvl="1" indent="-457200">
              <a:buFont typeface="+mj-lt"/>
              <a:buAutoNum type="arabicPeriod"/>
            </a:pPr>
            <a:r>
              <a:rPr lang="en-US" dirty="0"/>
              <a:t>The importance of proactive measures in preventing and addressing stereotype threats.</a:t>
            </a:r>
          </a:p>
          <a:p>
            <a:pPr marL="857250" lvl="1" indent="-457200">
              <a:buFont typeface="+mj-lt"/>
              <a:buAutoNum type="arabicPeriod"/>
            </a:pPr>
            <a:r>
              <a:rPr lang="en-US" dirty="0"/>
              <a:t>The transformative power of a growth mindset in fostering resilience and continuous learning among students.</a:t>
            </a:r>
          </a:p>
          <a:p>
            <a:r>
              <a:rPr lang="en-US" b="1" dirty="0"/>
              <a:t>Enhanced Skills and Understanding:</a:t>
            </a:r>
          </a:p>
          <a:p>
            <a:pPr marL="857250" lvl="1" indent="-457200">
              <a:buFont typeface="+mj-lt"/>
              <a:buAutoNum type="arabicPeriod"/>
            </a:pPr>
            <a:r>
              <a:rPr lang="en-US" dirty="0"/>
              <a:t>Increased awareness of my own biases and how they can affect my teaching and interactions.</a:t>
            </a:r>
          </a:p>
          <a:p>
            <a:pPr marL="857250" lvl="1" indent="-457200">
              <a:buFont typeface="+mj-lt"/>
              <a:buAutoNum type="arabicPeriod"/>
            </a:pPr>
            <a:r>
              <a:rPr lang="en-US" dirty="0"/>
              <a:t>Confidence in implementing strategies that promote inclusivity and respect for diverse identities.</a:t>
            </a:r>
          </a:p>
          <a:p>
            <a:pPr marL="857250" lvl="1" indent="-457200">
              <a:buFont typeface="+mj-lt"/>
              <a:buAutoNum type="arabicPeriod"/>
            </a:pPr>
            <a:r>
              <a:rPr lang="en-US" dirty="0"/>
              <a:t>Preparedness to facilitate discussions around difficult topics like race, religion, and gender identity.</a:t>
            </a:r>
          </a:p>
          <a:p>
            <a:r>
              <a:rPr lang="en-US" b="1" dirty="0"/>
              <a:t>Future Steps to Foster an Inclusive Classroom:</a:t>
            </a:r>
          </a:p>
          <a:p>
            <a:pPr marL="857250" lvl="1" indent="-457200">
              <a:buFont typeface="+mj-lt"/>
              <a:buAutoNum type="arabicPeriod"/>
            </a:pPr>
            <a:r>
              <a:rPr lang="en-US" dirty="0"/>
              <a:t>Continual learning about my students' cultures, backgrounds, and experiences to better tailor my teaching methods.</a:t>
            </a:r>
          </a:p>
          <a:p>
            <a:pPr marL="857250" lvl="1" indent="-457200">
              <a:buFont typeface="+mj-lt"/>
              <a:buAutoNum type="arabicPeriod"/>
            </a:pPr>
            <a:r>
              <a:rPr lang="en-US" dirty="0"/>
              <a:t>Regular review and adaptation of teaching materials to ensure they are inclusive and representational of all students.</a:t>
            </a:r>
          </a:p>
          <a:p>
            <a:pPr marL="857250" lvl="1" indent="-457200">
              <a:buFont typeface="+mj-lt"/>
              <a:buAutoNum type="arabicPeriod"/>
            </a:pPr>
            <a:r>
              <a:rPr lang="en-US" dirty="0"/>
              <a:t>Engagement in professional development opportunities focused on equity and diversity.</a:t>
            </a:r>
          </a:p>
        </p:txBody>
      </p:sp>
    </p:spTree>
    <p:extLst>
      <p:ext uri="{BB962C8B-B14F-4D97-AF65-F5344CB8AC3E}">
        <p14:creationId xmlns:p14="http://schemas.microsoft.com/office/powerpoint/2010/main" val="17374224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8AA9F-2BBD-B4A1-48F4-A594A6BBA7AB}"/>
              </a:ext>
            </a:extLst>
          </p:cNvPr>
          <p:cNvSpPr>
            <a:spLocks noGrp="1"/>
          </p:cNvSpPr>
          <p:nvPr>
            <p:ph type="title"/>
          </p:nvPr>
        </p:nvSpPr>
        <p:spPr>
          <a:xfrm>
            <a:off x="2895600" y="764373"/>
            <a:ext cx="8610600" cy="626277"/>
          </a:xfrm>
        </p:spPr>
        <p:txBody>
          <a:bodyPr>
            <a:normAutofit fontScale="90000"/>
          </a:bodyPr>
          <a:lstStyle/>
          <a:p>
            <a:r>
              <a:rPr lang="en-US" dirty="0"/>
              <a:t>References</a:t>
            </a:r>
          </a:p>
        </p:txBody>
      </p:sp>
      <p:sp>
        <p:nvSpPr>
          <p:cNvPr id="3" name="Content Placeholder 2">
            <a:extLst>
              <a:ext uri="{FF2B5EF4-FFF2-40B4-BE49-F238E27FC236}">
                <a16:creationId xmlns:a16="http://schemas.microsoft.com/office/drawing/2014/main" id="{F640B9EC-F0E5-D3B6-5AF6-A908340A0E9D}"/>
              </a:ext>
            </a:extLst>
          </p:cNvPr>
          <p:cNvSpPr>
            <a:spLocks noGrp="1"/>
          </p:cNvSpPr>
          <p:nvPr>
            <p:ph idx="1"/>
          </p:nvPr>
        </p:nvSpPr>
        <p:spPr>
          <a:xfrm>
            <a:off x="685800" y="1543050"/>
            <a:ext cx="10820400" cy="4675635"/>
          </a:xfrm>
        </p:spPr>
        <p:txBody>
          <a:bodyPr>
            <a:normAutofit fontScale="55000" lnSpcReduction="20000"/>
          </a:bodyPr>
          <a:lstStyle/>
          <a:p>
            <a:pPr>
              <a:lnSpc>
                <a:spcPct val="120000"/>
              </a:lnSpc>
              <a:buNone/>
            </a:pPr>
            <a:r>
              <a:rPr lang="en-US" dirty="0" err="1"/>
              <a:t>Bozonelos</a:t>
            </a:r>
            <a:r>
              <a:rPr lang="en-US" dirty="0"/>
              <a:t>, D., Wendt, J., Lee, C., </a:t>
            </a:r>
            <a:r>
              <a:rPr lang="en-US" dirty="0" err="1"/>
              <a:t>Scarffe</a:t>
            </a:r>
            <a:r>
              <a:rPr lang="en-US" dirty="0"/>
              <a:t>, J., Franco, J., Martin, B., &amp; Veldhuis, S. (2022). 7.3: What is Religious Identity? Social Sci </a:t>
            </a:r>
            <a:r>
              <a:rPr lang="en-US" dirty="0" err="1"/>
              <a:t>LibreTexts</a:t>
            </a:r>
            <a:r>
              <a:rPr lang="en-US" dirty="0"/>
              <a:t>. </a:t>
            </a:r>
            <a:r>
              <a:rPr lang="en-US" dirty="0">
                <a:hlinkClick r:id="rId2"/>
              </a:rPr>
              <a:t>https://socialsci.libretexts.org/Bookshelves/Political_Science_and_Civics/Introduction_to_Comparative_Government_and_Politics_(Bozonelos_et_al.)/07%3A_Political_Identity-_Nationalism_Religion_Class/7.03%3A_What_is_Religious_Identity</a:t>
            </a:r>
            <a:r>
              <a:rPr lang="en-US" dirty="0"/>
              <a:t> </a:t>
            </a:r>
          </a:p>
          <a:p>
            <a:pPr>
              <a:lnSpc>
                <a:spcPct val="120000"/>
              </a:lnSpc>
              <a:buNone/>
            </a:pPr>
            <a:endParaRPr lang="en-US" dirty="0"/>
          </a:p>
          <a:p>
            <a:pPr>
              <a:lnSpc>
                <a:spcPct val="120000"/>
              </a:lnSpc>
              <a:buNone/>
            </a:pPr>
            <a:r>
              <a:rPr lang="en-US" dirty="0"/>
              <a:t>Dictionary.com. (n.d.). Race vs. Ethnicity: Understand The Complex Difference. Retrieved April 13, 2024, from </a:t>
            </a:r>
            <a:r>
              <a:rPr lang="en-US" dirty="0">
                <a:hlinkClick r:id="rId3"/>
              </a:rPr>
              <a:t>https://www.dictionary.com/e/race-vs-ethnicity/</a:t>
            </a:r>
            <a:r>
              <a:rPr lang="en-US" dirty="0"/>
              <a:t> </a:t>
            </a:r>
          </a:p>
          <a:p>
            <a:pPr>
              <a:lnSpc>
                <a:spcPct val="120000"/>
              </a:lnSpc>
              <a:buNone/>
            </a:pPr>
            <a:endParaRPr lang="en-US" dirty="0"/>
          </a:p>
          <a:p>
            <a:pPr>
              <a:lnSpc>
                <a:spcPct val="120000"/>
              </a:lnSpc>
              <a:buNone/>
            </a:pPr>
            <a:r>
              <a:rPr lang="en-US" dirty="0" err="1"/>
              <a:t>Heaning</a:t>
            </a:r>
            <a:r>
              <a:rPr lang="en-US" dirty="0"/>
              <a:t>, E. (2023). Stereotype Threat: Definition and Examples. </a:t>
            </a:r>
            <a:r>
              <a:rPr lang="en-US" dirty="0">
                <a:hlinkClick r:id="rId4"/>
              </a:rPr>
              <a:t>https://www.simplypsychology.org/stereotype-threat.html</a:t>
            </a:r>
            <a:r>
              <a:rPr lang="en-US" dirty="0"/>
              <a:t> </a:t>
            </a:r>
          </a:p>
          <a:p>
            <a:pPr>
              <a:lnSpc>
                <a:spcPct val="120000"/>
              </a:lnSpc>
              <a:buNone/>
            </a:pPr>
            <a:endParaRPr lang="en-US" dirty="0"/>
          </a:p>
          <a:p>
            <a:pPr>
              <a:lnSpc>
                <a:spcPct val="120000"/>
              </a:lnSpc>
              <a:buNone/>
            </a:pPr>
            <a:r>
              <a:rPr lang="en-US" dirty="0" err="1"/>
              <a:t>Hogarty</a:t>
            </a:r>
            <a:r>
              <a:rPr lang="en-US" dirty="0"/>
              <a:t>, S. (2022). Growth mindset: Definition, characteristics, and examples. Ideas. </a:t>
            </a:r>
            <a:r>
              <a:rPr lang="en-US" dirty="0">
                <a:hlinkClick r:id="rId5"/>
              </a:rPr>
              <a:t>https://www.wework.com/ideas/professional-development/business-solutions/growth-mindset-definition-characteristics-and-examples</a:t>
            </a:r>
            <a:r>
              <a:rPr lang="en-US" dirty="0"/>
              <a:t> </a:t>
            </a:r>
          </a:p>
          <a:p>
            <a:pPr>
              <a:lnSpc>
                <a:spcPct val="120000"/>
              </a:lnSpc>
              <a:buNone/>
            </a:pPr>
            <a:endParaRPr lang="en-US" dirty="0"/>
          </a:p>
          <a:p>
            <a:pPr>
              <a:lnSpc>
                <a:spcPct val="120000"/>
              </a:lnSpc>
              <a:buNone/>
            </a:pPr>
            <a:r>
              <a:rPr lang="en-US" dirty="0"/>
              <a:t>Vinney, C. (2023). Gender vs. Sexuality: What’s the Difference? </a:t>
            </a:r>
            <a:r>
              <a:rPr lang="en-US" dirty="0" err="1"/>
              <a:t>Verywell</a:t>
            </a:r>
            <a:r>
              <a:rPr lang="en-US" dirty="0"/>
              <a:t> Mind. </a:t>
            </a:r>
            <a:r>
              <a:rPr lang="en-US" dirty="0">
                <a:hlinkClick r:id="rId6"/>
              </a:rPr>
              <a:t>https://www.verywellmind.com/what-is-the-difference-between-gender-and-sexuality-5207899</a:t>
            </a:r>
            <a:r>
              <a:rPr lang="en-US" dirty="0"/>
              <a:t> </a:t>
            </a:r>
          </a:p>
          <a:p>
            <a:pPr>
              <a:lnSpc>
                <a:spcPct val="120000"/>
              </a:lnSpc>
              <a:buNone/>
            </a:pPr>
            <a:endParaRPr lang="en-US" dirty="0"/>
          </a:p>
          <a:p>
            <a:pPr>
              <a:lnSpc>
                <a:spcPct val="120000"/>
              </a:lnSpc>
              <a:buNone/>
            </a:pPr>
            <a:r>
              <a:rPr lang="en-US" dirty="0"/>
              <a:t>Yilmaz, E. (n.d.). Identity: Definition, Types, &amp; Examples. The Berkeley Well-Being Institute. Retrieved April 13, 2024, from </a:t>
            </a:r>
            <a:r>
              <a:rPr lang="en-US" dirty="0">
                <a:hlinkClick r:id="rId7"/>
              </a:rPr>
              <a:t>https://www.berkeleywellbeing.com/identity.html</a:t>
            </a:r>
            <a:r>
              <a:rPr lang="en-US" dirty="0"/>
              <a:t> </a:t>
            </a:r>
          </a:p>
        </p:txBody>
      </p:sp>
    </p:spTree>
    <p:extLst>
      <p:ext uri="{BB962C8B-B14F-4D97-AF65-F5344CB8AC3E}">
        <p14:creationId xmlns:p14="http://schemas.microsoft.com/office/powerpoint/2010/main" val="3334904798"/>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Vapor Trail</Template>
  <TotalTime>169</TotalTime>
  <Words>1038</Words>
  <Application>Microsoft Office PowerPoint</Application>
  <PresentationFormat>Widescreen</PresentationFormat>
  <Paragraphs>107</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Century Gothic</vt:lpstr>
      <vt:lpstr>Vapor Trail</vt:lpstr>
      <vt:lpstr>Addressing Intolerance and Promoting Growth in Diverse Learning Environments</vt:lpstr>
      <vt:lpstr>Race &amp; Ethnicity</vt:lpstr>
      <vt:lpstr>Religion</vt:lpstr>
      <vt:lpstr>Gender and Sexual Identity</vt:lpstr>
      <vt:lpstr>Class</vt:lpstr>
      <vt:lpstr>Stereotype Threat</vt:lpstr>
      <vt:lpstr>Addressing Stereotype Threat</vt:lpstr>
      <vt:lpstr>Growth Mindset</vt:lpstr>
      <vt:lpstr>Promoting Growth Mindset</vt:lpstr>
      <vt:lpstr>Reflection on Learning</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Addressing Intolerance and Promoting Growth in Diverse Learning Environments</dc:title>
  <dc:creator>Frank Jamison</dc:creator>
  <cp:lastModifiedBy>Frank Jamison</cp:lastModifiedBy>
  <cp:revision>1</cp:revision>
  <dcterms:created xsi:type="dcterms:W3CDTF">2024-04-13T18:22:54Z</dcterms:created>
  <dcterms:modified xsi:type="dcterms:W3CDTF">2024-04-13T21:21:02Z</dcterms:modified>
</cp:coreProperties>
</file>