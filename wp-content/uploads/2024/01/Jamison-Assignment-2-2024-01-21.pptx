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sldIdLst>
    <p:sldId id="256" r:id="rId2"/>
    <p:sldId id="257" r:id="rId3"/>
    <p:sldId id="258" r:id="rId4"/>
    <p:sldId id="259" r:id="rId5"/>
    <p:sldId id="261" r:id="rId6"/>
    <p:sldId id="262"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B6A23D-5F7C-4E29-94EC-04E4027E5DCB}" v="2" dt="2024-01-29T01:16:46.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Jamison" userId="ba5cb3d4-e437-4fdd-96e9-c87ac9c47693" providerId="ADAL" clId="{8DB6A23D-5F7C-4E29-94EC-04E4027E5DCB}"/>
    <pc:docChg chg="custSel addSld modSld">
      <pc:chgData name="Frank Jamison" userId="ba5cb3d4-e437-4fdd-96e9-c87ac9c47693" providerId="ADAL" clId="{8DB6A23D-5F7C-4E29-94EC-04E4027E5DCB}" dt="2024-01-29T01:16:46.118" v="21"/>
      <pc:docMkLst>
        <pc:docMk/>
      </pc:docMkLst>
      <pc:sldChg chg="modTransition">
        <pc:chgData name="Frank Jamison" userId="ba5cb3d4-e437-4fdd-96e9-c87ac9c47693" providerId="ADAL" clId="{8DB6A23D-5F7C-4E29-94EC-04E4027E5DCB}" dt="2024-01-29T01:16:46.118" v="21"/>
        <pc:sldMkLst>
          <pc:docMk/>
          <pc:sldMk cId="3043827549" sldId="256"/>
        </pc:sldMkLst>
      </pc:sldChg>
      <pc:sldChg chg="modTransition">
        <pc:chgData name="Frank Jamison" userId="ba5cb3d4-e437-4fdd-96e9-c87ac9c47693" providerId="ADAL" clId="{8DB6A23D-5F7C-4E29-94EC-04E4027E5DCB}" dt="2024-01-29T01:16:46.118" v="21"/>
        <pc:sldMkLst>
          <pc:docMk/>
          <pc:sldMk cId="1004672462" sldId="257"/>
        </pc:sldMkLst>
      </pc:sldChg>
      <pc:sldChg chg="modTransition">
        <pc:chgData name="Frank Jamison" userId="ba5cb3d4-e437-4fdd-96e9-c87ac9c47693" providerId="ADAL" clId="{8DB6A23D-5F7C-4E29-94EC-04E4027E5DCB}" dt="2024-01-29T01:16:46.118" v="21"/>
        <pc:sldMkLst>
          <pc:docMk/>
          <pc:sldMk cId="3477441893" sldId="258"/>
        </pc:sldMkLst>
      </pc:sldChg>
      <pc:sldChg chg="modTransition">
        <pc:chgData name="Frank Jamison" userId="ba5cb3d4-e437-4fdd-96e9-c87ac9c47693" providerId="ADAL" clId="{8DB6A23D-5F7C-4E29-94EC-04E4027E5DCB}" dt="2024-01-29T01:16:46.118" v="21"/>
        <pc:sldMkLst>
          <pc:docMk/>
          <pc:sldMk cId="3782075422" sldId="259"/>
        </pc:sldMkLst>
      </pc:sldChg>
      <pc:sldChg chg="modTransition">
        <pc:chgData name="Frank Jamison" userId="ba5cb3d4-e437-4fdd-96e9-c87ac9c47693" providerId="ADAL" clId="{8DB6A23D-5F7C-4E29-94EC-04E4027E5DCB}" dt="2024-01-29T01:16:46.118" v="21"/>
        <pc:sldMkLst>
          <pc:docMk/>
          <pc:sldMk cId="1129286521" sldId="261"/>
        </pc:sldMkLst>
      </pc:sldChg>
      <pc:sldChg chg="modSp mod modTransition">
        <pc:chgData name="Frank Jamison" userId="ba5cb3d4-e437-4fdd-96e9-c87ac9c47693" providerId="ADAL" clId="{8DB6A23D-5F7C-4E29-94EC-04E4027E5DCB}" dt="2024-01-29T01:16:46.118" v="21"/>
        <pc:sldMkLst>
          <pc:docMk/>
          <pc:sldMk cId="1459892299" sldId="262"/>
        </pc:sldMkLst>
        <pc:spChg chg="mod">
          <ac:chgData name="Frank Jamison" userId="ba5cb3d4-e437-4fdd-96e9-c87ac9c47693" providerId="ADAL" clId="{8DB6A23D-5F7C-4E29-94EC-04E4027E5DCB}" dt="2024-01-29T01:10:54.185" v="20" actId="27636"/>
          <ac:spMkLst>
            <pc:docMk/>
            <pc:sldMk cId="1459892299" sldId="262"/>
            <ac:spMk id="3" creationId="{A01043AF-18E0-E33A-33AB-574CBB4314DC}"/>
          </ac:spMkLst>
        </pc:spChg>
      </pc:sldChg>
      <pc:sldChg chg="modTransition">
        <pc:chgData name="Frank Jamison" userId="ba5cb3d4-e437-4fdd-96e9-c87ac9c47693" providerId="ADAL" clId="{8DB6A23D-5F7C-4E29-94EC-04E4027E5DCB}" dt="2024-01-29T01:16:46.118" v="21"/>
        <pc:sldMkLst>
          <pc:docMk/>
          <pc:sldMk cId="2369098636" sldId="264"/>
        </pc:sldMkLst>
      </pc:sldChg>
      <pc:sldChg chg="modSp new mod modTransition">
        <pc:chgData name="Frank Jamison" userId="ba5cb3d4-e437-4fdd-96e9-c87ac9c47693" providerId="ADAL" clId="{8DB6A23D-5F7C-4E29-94EC-04E4027E5DCB}" dt="2024-01-29T01:16:46.118" v="21"/>
        <pc:sldMkLst>
          <pc:docMk/>
          <pc:sldMk cId="3721908322" sldId="265"/>
        </pc:sldMkLst>
        <pc:spChg chg="mod">
          <ac:chgData name="Frank Jamison" userId="ba5cb3d4-e437-4fdd-96e9-c87ac9c47693" providerId="ADAL" clId="{8DB6A23D-5F7C-4E29-94EC-04E4027E5DCB}" dt="2024-01-21T15:14:43.658" v="10" actId="20577"/>
          <ac:spMkLst>
            <pc:docMk/>
            <pc:sldMk cId="3721908322" sldId="265"/>
            <ac:spMk id="2" creationId="{3E1A6FA2-3E81-42B4-BB1F-A03FE0F34BDF}"/>
          </ac:spMkLst>
        </pc:spChg>
        <pc:spChg chg="mod">
          <ac:chgData name="Frank Jamison" userId="ba5cb3d4-e437-4fdd-96e9-c87ac9c47693" providerId="ADAL" clId="{8DB6A23D-5F7C-4E29-94EC-04E4027E5DCB}" dt="2024-01-21T15:15:41.778" v="18" actId="179"/>
          <ac:spMkLst>
            <pc:docMk/>
            <pc:sldMk cId="3721908322" sldId="265"/>
            <ac:spMk id="3" creationId="{4D0C7308-C85E-6D08-D538-FA2086A1BD1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1/28/2024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287209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3157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8018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60764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41512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1905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082467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0731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4104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255872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1/28/2024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98860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1/28/2024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1733845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29" r:id="rId6"/>
    <p:sldLayoutId id="2147483725" r:id="rId7"/>
    <p:sldLayoutId id="2147483726" r:id="rId8"/>
    <p:sldLayoutId id="2147483727" r:id="rId9"/>
    <p:sldLayoutId id="2147483728" r:id="rId10"/>
    <p:sldLayoutId id="2147483730"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s://www.cuemath.com/algebra/algebraic-express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7">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24" name="Rectangle 2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E4A65-AB9E-7E72-1711-05333CC23E7F}"/>
              </a:ext>
            </a:extLst>
          </p:cNvPr>
          <p:cNvSpPr>
            <a:spLocks noGrp="1"/>
          </p:cNvSpPr>
          <p:nvPr>
            <p:ph type="ctrTitle"/>
          </p:nvPr>
        </p:nvSpPr>
        <p:spPr>
          <a:xfrm>
            <a:off x="640080" y="325369"/>
            <a:ext cx="4368602" cy="1956841"/>
          </a:xfrm>
        </p:spPr>
        <p:txBody>
          <a:bodyPr vert="horz" lIns="91440" tIns="45720" rIns="91440" bIns="45720" rtlCol="0" anchor="b">
            <a:normAutofit/>
          </a:bodyPr>
          <a:lstStyle/>
          <a:p>
            <a:pPr>
              <a:lnSpc>
                <a:spcPct val="90000"/>
              </a:lnSpc>
            </a:pPr>
            <a:r>
              <a:rPr lang="en-US" sz="5600" dirty="0"/>
              <a:t>Informational Text in Mathematics</a:t>
            </a:r>
          </a:p>
        </p:txBody>
      </p:sp>
      <p:sp>
        <p:nvSpPr>
          <p:cNvPr id="26"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CBA365"/>
          </a:solidFill>
          <a:ln w="38100" cap="rnd">
            <a:solidFill>
              <a:srgbClr val="CBA365"/>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E589B64-AC5A-0037-0CE4-F63C20E6DDC4}"/>
              </a:ext>
            </a:extLst>
          </p:cNvPr>
          <p:cNvSpPr>
            <a:spLocks noGrp="1"/>
          </p:cNvSpPr>
          <p:nvPr>
            <p:ph type="subTitle" idx="1"/>
          </p:nvPr>
        </p:nvSpPr>
        <p:spPr>
          <a:xfrm>
            <a:off x="640080" y="2872899"/>
            <a:ext cx="4243589" cy="3320668"/>
          </a:xfrm>
        </p:spPr>
        <p:txBody>
          <a:bodyPr vert="horz" lIns="91440" tIns="45720" rIns="91440" bIns="45720" rtlCol="0">
            <a:normAutofit/>
          </a:bodyPr>
          <a:lstStyle/>
          <a:p>
            <a:r>
              <a:rPr lang="en-US" dirty="0"/>
              <a:t>Frank Jamison</a:t>
            </a:r>
          </a:p>
          <a:p>
            <a:r>
              <a:rPr lang="en-US" dirty="0"/>
              <a:t>ITL522: Content Area Literacy</a:t>
            </a:r>
          </a:p>
          <a:p>
            <a:r>
              <a:rPr lang="en-US" dirty="0"/>
              <a:t>Professor Barbara Ray</a:t>
            </a:r>
          </a:p>
          <a:p>
            <a:r>
              <a:rPr lang="en-US" dirty="0"/>
              <a:t>January 21, 2024</a:t>
            </a:r>
          </a:p>
          <a:p>
            <a:pPr indent="-228600">
              <a:buFont typeface="Arial" panose="020B0604020202020204" pitchFamily="34" charset="0"/>
              <a:buChar char="•"/>
            </a:pPr>
            <a:endParaRPr lang="en-US" dirty="0"/>
          </a:p>
        </p:txBody>
      </p:sp>
      <p:pic>
        <p:nvPicPr>
          <p:cNvPr id="4" name="Picture 3" descr="Colored pencils inside a pencil holder which is on top of a wood table">
            <a:extLst>
              <a:ext uri="{FF2B5EF4-FFF2-40B4-BE49-F238E27FC236}">
                <a16:creationId xmlns:a16="http://schemas.microsoft.com/office/drawing/2014/main" id="{43076197-634A-5B69-B089-B37BCFEE7BAB}"/>
              </a:ext>
            </a:extLst>
          </p:cNvPr>
          <p:cNvPicPr>
            <a:picLocks noChangeAspect="1"/>
          </p:cNvPicPr>
          <p:nvPr/>
        </p:nvPicPr>
        <p:blipFill rotWithShape="1">
          <a:blip r:embed="rId2"/>
          <a:srcRect l="33048" r="-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043827549"/>
      </p:ext>
    </p:extLst>
  </p:cSld>
  <p:clrMapOvr>
    <a:masterClrMapping/>
  </p:clrMapOvr>
  <mc:AlternateContent xmlns:mc="http://schemas.openxmlformats.org/markup-compatibility/2006">
    <mc:Choice xmlns:p14="http://schemas.microsoft.com/office/powerpoint/2010/main" Requires="p14">
      <p:transition spd="med" p14:dur="700" advTm="7384">
        <p:fade/>
      </p:transition>
    </mc:Choice>
    <mc:Fallback>
      <p:transition spd="med" advTm="7384">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F8C9C-53B9-369F-F768-56E0C7FD9412}"/>
              </a:ext>
            </a:extLst>
          </p:cNvPr>
          <p:cNvSpPr>
            <a:spLocks noGrp="1"/>
          </p:cNvSpPr>
          <p:nvPr>
            <p:ph type="title"/>
          </p:nvPr>
        </p:nvSpPr>
        <p:spPr/>
        <p:txBody>
          <a:bodyPr/>
          <a:lstStyle/>
          <a:p>
            <a:r>
              <a:rPr lang="en-US" dirty="0"/>
              <a:t>The </a:t>
            </a:r>
            <a:r>
              <a:rPr lang="en-US" dirty="0" err="1"/>
              <a:t>Cuemath</a:t>
            </a:r>
            <a:r>
              <a:rPr lang="en-US" dirty="0"/>
              <a:t> website: Algebraic Expressions</a:t>
            </a:r>
          </a:p>
        </p:txBody>
      </p:sp>
      <p:sp>
        <p:nvSpPr>
          <p:cNvPr id="3" name="Content Placeholder 2">
            <a:extLst>
              <a:ext uri="{FF2B5EF4-FFF2-40B4-BE49-F238E27FC236}">
                <a16:creationId xmlns:a16="http://schemas.microsoft.com/office/drawing/2014/main" id="{D324F65D-730C-8606-EA40-D2DBBC2E7C5A}"/>
              </a:ext>
            </a:extLst>
          </p:cNvPr>
          <p:cNvSpPr>
            <a:spLocks noGrp="1"/>
          </p:cNvSpPr>
          <p:nvPr>
            <p:ph sz="half" idx="1"/>
          </p:nvPr>
        </p:nvSpPr>
        <p:spPr/>
        <p:txBody>
          <a:bodyPr>
            <a:normAutofit fontScale="70000" lnSpcReduction="20000"/>
          </a:bodyPr>
          <a:lstStyle/>
          <a:p>
            <a:pPr marL="0" indent="0">
              <a:buNone/>
            </a:pPr>
            <a:r>
              <a:rPr lang="en-US" dirty="0"/>
              <a:t>I choose the </a:t>
            </a:r>
            <a:r>
              <a:rPr lang="en-US" dirty="0" err="1"/>
              <a:t>Cuemath</a:t>
            </a:r>
            <a:r>
              <a:rPr lang="en-US" dirty="0"/>
              <a:t> (n.d.) website’s page on algebraic expressions because it provides a comprehensive overview of the topic. </a:t>
            </a:r>
          </a:p>
          <a:p>
            <a:pPr marL="0" indent="0">
              <a:buNone/>
            </a:pPr>
            <a:r>
              <a:rPr lang="en-US" dirty="0"/>
              <a:t>The page explains key concepts such as </a:t>
            </a:r>
          </a:p>
          <a:p>
            <a:pPr lvl="1"/>
            <a:r>
              <a:rPr lang="en-US" dirty="0"/>
              <a:t>variables, </a:t>
            </a:r>
          </a:p>
          <a:p>
            <a:pPr lvl="1"/>
            <a:r>
              <a:rPr lang="en-US" dirty="0"/>
              <a:t>constants, </a:t>
            </a:r>
          </a:p>
          <a:p>
            <a:pPr lvl="1"/>
            <a:r>
              <a:rPr lang="en-US" dirty="0"/>
              <a:t>terms, </a:t>
            </a:r>
          </a:p>
          <a:p>
            <a:pPr lvl="1"/>
            <a:r>
              <a:rPr lang="en-US" dirty="0"/>
              <a:t>coefficients</a:t>
            </a:r>
          </a:p>
          <a:p>
            <a:pPr marL="0" indent="0">
              <a:buNone/>
            </a:pPr>
            <a:r>
              <a:rPr lang="en-US" dirty="0"/>
              <a:t>and goes into detail on how to simplify algebraic expressions by combining like terms. </a:t>
            </a:r>
          </a:p>
          <a:p>
            <a:pPr marL="0" indent="0">
              <a:buNone/>
            </a:pPr>
            <a:r>
              <a:rPr lang="en-US" dirty="0"/>
              <a:t>It also covers operations on algebraic expressions, including addition, subtraction, multiplication, and division, and provides examples of each.</a:t>
            </a:r>
          </a:p>
        </p:txBody>
      </p:sp>
      <p:pic>
        <p:nvPicPr>
          <p:cNvPr id="6" name="Content Placeholder 5" descr="A diagram of a mathematical equation&#10;&#10;Description automatically generated">
            <a:extLst>
              <a:ext uri="{FF2B5EF4-FFF2-40B4-BE49-F238E27FC236}">
                <a16:creationId xmlns:a16="http://schemas.microsoft.com/office/drawing/2014/main" id="{DE58ADA7-892E-EDC9-71FB-D708C580A3D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665387"/>
            <a:ext cx="5181600" cy="2779763"/>
          </a:xfrm>
        </p:spPr>
      </p:pic>
    </p:spTree>
    <p:extLst>
      <p:ext uri="{BB962C8B-B14F-4D97-AF65-F5344CB8AC3E}">
        <p14:creationId xmlns:p14="http://schemas.microsoft.com/office/powerpoint/2010/main" val="1004672462"/>
      </p:ext>
    </p:extLst>
  </p:cSld>
  <p:clrMapOvr>
    <a:masterClrMapping/>
  </p:clrMapOvr>
  <mc:AlternateContent xmlns:mc="http://schemas.openxmlformats.org/markup-compatibility/2006">
    <mc:Choice xmlns:p14="http://schemas.microsoft.com/office/powerpoint/2010/main" Requires="p14">
      <p:transition spd="med" p14:dur="700" advTm="26897">
        <p:fade/>
      </p:transition>
    </mc:Choice>
    <mc:Fallback>
      <p:transition spd="med" advTm="26897">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B614-B2AA-1702-29CA-C318BC2DE47A}"/>
              </a:ext>
            </a:extLst>
          </p:cNvPr>
          <p:cNvSpPr>
            <a:spLocks noGrp="1"/>
          </p:cNvSpPr>
          <p:nvPr>
            <p:ph type="title"/>
          </p:nvPr>
        </p:nvSpPr>
        <p:spPr/>
        <p:txBody>
          <a:bodyPr>
            <a:normAutofit/>
          </a:bodyPr>
          <a:lstStyle/>
          <a:p>
            <a:r>
              <a:rPr lang="en-US" dirty="0"/>
              <a:t>Learning Activity Part 1: Vocabulary Comprehension</a:t>
            </a:r>
          </a:p>
        </p:txBody>
      </p:sp>
      <p:sp>
        <p:nvSpPr>
          <p:cNvPr id="3" name="Content Placeholder 2">
            <a:extLst>
              <a:ext uri="{FF2B5EF4-FFF2-40B4-BE49-F238E27FC236}">
                <a16:creationId xmlns:a16="http://schemas.microsoft.com/office/drawing/2014/main" id="{54B21055-9EF5-EA01-8417-606D537B03FF}"/>
              </a:ext>
            </a:extLst>
          </p:cNvPr>
          <p:cNvSpPr>
            <a:spLocks noGrp="1"/>
          </p:cNvSpPr>
          <p:nvPr>
            <p:ph sz="half" idx="1"/>
          </p:nvPr>
        </p:nvSpPr>
        <p:spPr/>
        <p:txBody>
          <a:bodyPr>
            <a:normAutofit fontScale="70000" lnSpcReduction="20000"/>
          </a:bodyPr>
          <a:lstStyle/>
          <a:p>
            <a:pPr marL="514350" indent="-514350">
              <a:buFont typeface="+mj-lt"/>
              <a:buAutoNum type="arabicPeriod"/>
            </a:pPr>
            <a:r>
              <a:rPr lang="en-US" sz="3400" b="1" dirty="0">
                <a:solidFill>
                  <a:schemeClr val="accent3"/>
                </a:solidFill>
              </a:rPr>
              <a:t>Pre-Assessment Quiz:</a:t>
            </a:r>
          </a:p>
          <a:p>
            <a:pPr lvl="1"/>
            <a:r>
              <a:rPr lang="en-US" dirty="0"/>
              <a:t>Start with a brief quiz to assess the students' prior knowledge of vocabulary related to algebraic expressions (e.g., variable, coefficient, constant, term).</a:t>
            </a:r>
          </a:p>
          <a:p>
            <a:pPr lvl="1"/>
            <a:r>
              <a:rPr lang="en-US" dirty="0"/>
              <a:t>This can be a mix of multiple-choice and short-answer questions.</a:t>
            </a:r>
          </a:p>
          <a:p>
            <a:pPr marL="514350" indent="-514350">
              <a:buFont typeface="+mj-lt"/>
              <a:buAutoNum type="arabicPeriod"/>
            </a:pPr>
            <a:r>
              <a:rPr lang="en-US" sz="3400" b="1" dirty="0">
                <a:solidFill>
                  <a:schemeClr val="accent3"/>
                </a:solidFill>
              </a:rPr>
              <a:t>Reading Assignment:</a:t>
            </a:r>
          </a:p>
          <a:p>
            <a:pPr lvl="1"/>
            <a:r>
              <a:rPr lang="en-US" dirty="0"/>
              <a:t>Have the students read the </a:t>
            </a:r>
            <a:r>
              <a:rPr lang="en-US" dirty="0" err="1"/>
              <a:t>Cuemath</a:t>
            </a:r>
            <a:r>
              <a:rPr lang="en-US" dirty="0"/>
              <a:t> page on algebraic expressions, focusing specifically on sections that define key terms.</a:t>
            </a:r>
          </a:p>
          <a:p>
            <a:pPr lvl="1"/>
            <a:r>
              <a:rPr lang="en-US" dirty="0"/>
              <a:t>Encourage note-taking.</a:t>
            </a:r>
          </a:p>
        </p:txBody>
      </p:sp>
      <p:sp>
        <p:nvSpPr>
          <p:cNvPr id="4" name="Content Placeholder 3">
            <a:extLst>
              <a:ext uri="{FF2B5EF4-FFF2-40B4-BE49-F238E27FC236}">
                <a16:creationId xmlns:a16="http://schemas.microsoft.com/office/drawing/2014/main" id="{922BF6FA-5C1E-9210-B93F-019553E7674B}"/>
              </a:ext>
            </a:extLst>
          </p:cNvPr>
          <p:cNvSpPr>
            <a:spLocks noGrp="1"/>
          </p:cNvSpPr>
          <p:nvPr>
            <p:ph sz="half" idx="2"/>
          </p:nvPr>
        </p:nvSpPr>
        <p:spPr/>
        <p:txBody>
          <a:bodyPr>
            <a:normAutofit fontScale="70000" lnSpcReduction="20000"/>
          </a:bodyPr>
          <a:lstStyle/>
          <a:p>
            <a:pPr marL="514350" indent="-514350">
              <a:buFont typeface="+mj-lt"/>
              <a:buAutoNum type="arabicPeriod" startAt="3"/>
            </a:pPr>
            <a:r>
              <a:rPr lang="en-US" sz="3400" b="1" dirty="0">
                <a:solidFill>
                  <a:schemeClr val="accent3"/>
                </a:solidFill>
              </a:rPr>
              <a:t>Vocabulary Match-Up Exercise:</a:t>
            </a:r>
          </a:p>
          <a:p>
            <a:pPr lvl="1"/>
            <a:r>
              <a:rPr lang="en-US" dirty="0"/>
              <a:t>Provide a worksheet with two columns: one with vocabulary words (variable, term, coefficient, etc.) and another with their definitions in jumbled order.</a:t>
            </a:r>
          </a:p>
          <a:p>
            <a:pPr lvl="1"/>
            <a:r>
              <a:rPr lang="en-US" dirty="0"/>
              <a:t>Students will match the terms with their correct definitions.</a:t>
            </a:r>
          </a:p>
          <a:p>
            <a:pPr marL="514350" indent="-514350">
              <a:buFont typeface="+mj-lt"/>
              <a:buAutoNum type="arabicPeriod" startAt="3"/>
            </a:pPr>
            <a:r>
              <a:rPr lang="en-US" sz="3400" b="1" dirty="0">
                <a:solidFill>
                  <a:schemeClr val="accent3"/>
                </a:solidFill>
              </a:rPr>
              <a:t>Group Discussion:</a:t>
            </a:r>
          </a:p>
          <a:p>
            <a:pPr lvl="1"/>
            <a:r>
              <a:rPr lang="en-US" dirty="0"/>
              <a:t>In small groups, students discuss the terms and their understanding of them. This peer-to-peer interaction often helps solidify comprehension.</a:t>
            </a:r>
          </a:p>
          <a:p>
            <a:pPr marL="514350" indent="-514350">
              <a:buFont typeface="+mj-lt"/>
              <a:buAutoNum type="arabicPeriod" startAt="3"/>
            </a:pPr>
            <a:r>
              <a:rPr lang="en-US" sz="3400" b="1" dirty="0">
                <a:solidFill>
                  <a:schemeClr val="accent3"/>
                </a:solidFill>
              </a:rPr>
              <a:t>Vocabulary in Context:</a:t>
            </a:r>
          </a:p>
          <a:p>
            <a:pPr lvl="1"/>
            <a:r>
              <a:rPr lang="en-US" dirty="0"/>
              <a:t>Students will use each vocabulary word in a sentence related to algebraic expressions to demonstrate understanding.</a:t>
            </a:r>
          </a:p>
        </p:txBody>
      </p:sp>
    </p:spTree>
    <p:extLst>
      <p:ext uri="{BB962C8B-B14F-4D97-AF65-F5344CB8AC3E}">
        <p14:creationId xmlns:p14="http://schemas.microsoft.com/office/powerpoint/2010/main" val="3477441893"/>
      </p:ext>
    </p:extLst>
  </p:cSld>
  <p:clrMapOvr>
    <a:masterClrMapping/>
  </p:clrMapOvr>
  <mc:AlternateContent xmlns:mc="http://schemas.openxmlformats.org/markup-compatibility/2006">
    <mc:Choice xmlns:p14="http://schemas.microsoft.com/office/powerpoint/2010/main" Requires="p14">
      <p:transition spd="med" p14:dur="700" advTm="50817">
        <p:fade/>
      </p:transition>
    </mc:Choice>
    <mc:Fallback>
      <p:transition spd="med" advTm="50817">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B614-B2AA-1702-29CA-C318BC2DE47A}"/>
              </a:ext>
            </a:extLst>
          </p:cNvPr>
          <p:cNvSpPr>
            <a:spLocks noGrp="1"/>
          </p:cNvSpPr>
          <p:nvPr>
            <p:ph type="title"/>
          </p:nvPr>
        </p:nvSpPr>
        <p:spPr/>
        <p:txBody>
          <a:bodyPr>
            <a:normAutofit/>
          </a:bodyPr>
          <a:lstStyle/>
          <a:p>
            <a:r>
              <a:rPr lang="en-US" dirty="0"/>
              <a:t>Learning Activity Part 2: Accessing Text Features</a:t>
            </a:r>
          </a:p>
        </p:txBody>
      </p:sp>
      <p:sp>
        <p:nvSpPr>
          <p:cNvPr id="3" name="Content Placeholder 2">
            <a:extLst>
              <a:ext uri="{FF2B5EF4-FFF2-40B4-BE49-F238E27FC236}">
                <a16:creationId xmlns:a16="http://schemas.microsoft.com/office/drawing/2014/main" id="{54B21055-9EF5-EA01-8417-606D537B03FF}"/>
              </a:ext>
            </a:extLst>
          </p:cNvPr>
          <p:cNvSpPr>
            <a:spLocks noGrp="1"/>
          </p:cNvSpPr>
          <p:nvPr>
            <p:ph sz="half" idx="1"/>
          </p:nvPr>
        </p:nvSpPr>
        <p:spPr/>
        <p:txBody>
          <a:bodyPr>
            <a:normAutofit fontScale="77500" lnSpcReduction="20000"/>
          </a:bodyPr>
          <a:lstStyle/>
          <a:p>
            <a:pPr marL="514350" indent="-514350">
              <a:buFont typeface="+mj-lt"/>
              <a:buAutoNum type="arabicPeriod"/>
            </a:pPr>
            <a:r>
              <a:rPr lang="en-US" sz="3400" b="1" dirty="0">
                <a:solidFill>
                  <a:schemeClr val="accent3"/>
                </a:solidFill>
              </a:rPr>
              <a:t>Exploration Guide:</a:t>
            </a:r>
          </a:p>
          <a:p>
            <a:pPr lvl="1"/>
            <a:r>
              <a:rPr lang="en-US" sz="3000" b="1" dirty="0"/>
              <a:t>Create a guided worksheet that asks specific questions about the layout and features of the </a:t>
            </a:r>
            <a:r>
              <a:rPr lang="en-US" sz="3000" b="1" dirty="0" err="1"/>
              <a:t>Cuemath</a:t>
            </a:r>
            <a:r>
              <a:rPr lang="en-US" sz="3000" b="1" dirty="0"/>
              <a:t> text, such as "Find an example of an algebraic expression in the text," or "What image is used to explain 'like terms'?"</a:t>
            </a:r>
          </a:p>
          <a:p>
            <a:pPr marL="514350" indent="-514350">
              <a:buFont typeface="+mj-lt"/>
              <a:buAutoNum type="arabicPeriod"/>
            </a:pPr>
            <a:r>
              <a:rPr lang="en-US" sz="3400" b="1" dirty="0">
                <a:solidFill>
                  <a:schemeClr val="accent3"/>
                </a:solidFill>
              </a:rPr>
              <a:t>Text Feature Presentation:</a:t>
            </a:r>
          </a:p>
          <a:p>
            <a:pPr lvl="1"/>
            <a:r>
              <a:rPr lang="en-US" sz="3000" b="1" dirty="0"/>
              <a:t>Discuss the different features of the text such as headings, subheadings, bold words, images, and examples.</a:t>
            </a:r>
          </a:p>
          <a:p>
            <a:pPr lvl="1"/>
            <a:r>
              <a:rPr lang="en-US" sz="3000" b="1" dirty="0"/>
              <a:t>Show how each feature helps in understanding the content better.</a:t>
            </a:r>
            <a:endParaRPr lang="en-US" dirty="0"/>
          </a:p>
        </p:txBody>
      </p:sp>
      <p:sp>
        <p:nvSpPr>
          <p:cNvPr id="4" name="Content Placeholder 3">
            <a:extLst>
              <a:ext uri="{FF2B5EF4-FFF2-40B4-BE49-F238E27FC236}">
                <a16:creationId xmlns:a16="http://schemas.microsoft.com/office/drawing/2014/main" id="{922BF6FA-5C1E-9210-B93F-019553E7674B}"/>
              </a:ext>
            </a:extLst>
          </p:cNvPr>
          <p:cNvSpPr>
            <a:spLocks noGrp="1"/>
          </p:cNvSpPr>
          <p:nvPr>
            <p:ph sz="half" idx="2"/>
          </p:nvPr>
        </p:nvSpPr>
        <p:spPr/>
        <p:txBody>
          <a:bodyPr>
            <a:normAutofit fontScale="77500" lnSpcReduction="20000"/>
          </a:bodyPr>
          <a:lstStyle/>
          <a:p>
            <a:pPr marL="514350" indent="-514350">
              <a:buFont typeface="+mj-lt"/>
              <a:buAutoNum type="arabicPeriod" startAt="3"/>
            </a:pPr>
            <a:r>
              <a:rPr lang="en-US" sz="3400" b="1" dirty="0">
                <a:solidFill>
                  <a:schemeClr val="accent3"/>
                </a:solidFill>
              </a:rPr>
              <a:t>Scavenger Hunt:</a:t>
            </a:r>
          </a:p>
          <a:p>
            <a:pPr lvl="1"/>
            <a:r>
              <a:rPr lang="en-US" sz="3000" b="1" dirty="0"/>
              <a:t>Organize a scavenger hunt where students have to find and note down specific information, like an example of a simplified algebraic expression, from the text.</a:t>
            </a:r>
          </a:p>
          <a:p>
            <a:pPr lvl="1"/>
            <a:r>
              <a:rPr lang="en-US" sz="3000" b="1" dirty="0"/>
              <a:t>This activity encourages detailed reading and familiarity with navigating informational texts.</a:t>
            </a:r>
          </a:p>
          <a:p>
            <a:pPr marL="514350" indent="-514350">
              <a:buFont typeface="+mj-lt"/>
              <a:buAutoNum type="arabicPeriod" startAt="3"/>
            </a:pPr>
            <a:r>
              <a:rPr lang="en-US" sz="3400" b="1" dirty="0">
                <a:solidFill>
                  <a:schemeClr val="accent3"/>
                </a:solidFill>
              </a:rPr>
              <a:t>Interactive Q&amp;A:</a:t>
            </a:r>
          </a:p>
          <a:p>
            <a:pPr lvl="1"/>
            <a:r>
              <a:rPr lang="en-US" sz="3000" b="1" dirty="0"/>
              <a:t>Conclude with an interactive session where students ask questions about the text, and their peers try to answer by referring to specific sections of the text.</a:t>
            </a:r>
            <a:endParaRPr lang="en-US" dirty="0"/>
          </a:p>
        </p:txBody>
      </p:sp>
    </p:spTree>
    <p:extLst>
      <p:ext uri="{BB962C8B-B14F-4D97-AF65-F5344CB8AC3E}">
        <p14:creationId xmlns:p14="http://schemas.microsoft.com/office/powerpoint/2010/main" val="3782075422"/>
      </p:ext>
    </p:extLst>
  </p:cSld>
  <p:clrMapOvr>
    <a:masterClrMapping/>
  </p:clrMapOvr>
  <mc:AlternateContent xmlns:mc="http://schemas.openxmlformats.org/markup-compatibility/2006">
    <mc:Choice xmlns:p14="http://schemas.microsoft.com/office/powerpoint/2010/main" Requires="p14">
      <p:transition spd="med" p14:dur="700" advTm="46404">
        <p:fade/>
      </p:transition>
    </mc:Choice>
    <mc:Fallback>
      <p:transition spd="med" advTm="46404">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1B118-0140-6C6B-4147-69AE6DC1F713}"/>
              </a:ext>
            </a:extLst>
          </p:cNvPr>
          <p:cNvSpPr>
            <a:spLocks noGrp="1"/>
          </p:cNvSpPr>
          <p:nvPr>
            <p:ph type="title"/>
          </p:nvPr>
        </p:nvSpPr>
        <p:spPr/>
        <p:txBody>
          <a:bodyPr/>
          <a:lstStyle/>
          <a:p>
            <a:r>
              <a:rPr lang="en-US" dirty="0"/>
              <a:t>Writing Prompt: Exploring Algebraic Expressions</a:t>
            </a:r>
          </a:p>
        </p:txBody>
      </p:sp>
      <p:sp>
        <p:nvSpPr>
          <p:cNvPr id="3" name="Content Placeholder 2">
            <a:extLst>
              <a:ext uri="{FF2B5EF4-FFF2-40B4-BE49-F238E27FC236}">
                <a16:creationId xmlns:a16="http://schemas.microsoft.com/office/drawing/2014/main" id="{5E123F55-671A-5B6C-1567-F5BCADFBFECD}"/>
              </a:ext>
            </a:extLst>
          </p:cNvPr>
          <p:cNvSpPr>
            <a:spLocks noGrp="1"/>
          </p:cNvSpPr>
          <p:nvPr>
            <p:ph sz="half" idx="1"/>
          </p:nvPr>
        </p:nvSpPr>
        <p:spPr/>
        <p:txBody>
          <a:bodyPr>
            <a:normAutofit fontScale="70000" lnSpcReduction="20000"/>
          </a:bodyPr>
          <a:lstStyle/>
          <a:p>
            <a:r>
              <a:rPr lang="en-US" dirty="0">
                <a:solidFill>
                  <a:schemeClr val="accent3"/>
                </a:solidFill>
              </a:rPr>
              <a:t>Context:</a:t>
            </a:r>
            <a:r>
              <a:rPr lang="en-US" dirty="0"/>
              <a:t> Having studied the </a:t>
            </a:r>
            <a:r>
              <a:rPr lang="en-US" dirty="0" err="1"/>
              <a:t>Cuemath</a:t>
            </a:r>
            <a:r>
              <a:rPr lang="en-US" dirty="0"/>
              <a:t> webpage on algebraic expressions, you are now familiar with the various elements that constitute these expressions, including variables, constants, coefficients, and terms. The webpage also discusses operations such as addition, subtraction, multiplication, and division of algebraic expressions.</a:t>
            </a:r>
          </a:p>
          <a:p>
            <a:r>
              <a:rPr lang="en-US" b="1" dirty="0">
                <a:solidFill>
                  <a:schemeClr val="accent3"/>
                </a:solidFill>
              </a:rPr>
              <a:t>Prompt:</a:t>
            </a:r>
            <a:r>
              <a:rPr lang="en-US" b="1" dirty="0"/>
              <a:t> </a:t>
            </a:r>
            <a:r>
              <a:rPr lang="en-US" b="1" dirty="0">
                <a:solidFill>
                  <a:schemeClr val="accent2"/>
                </a:solidFill>
              </a:rPr>
              <a:t>"Understanding and simplifying algebraic expressions is crucial for solving complex algebra problems.“</a:t>
            </a:r>
          </a:p>
          <a:p>
            <a:pPr marL="0" indent="0">
              <a:buNone/>
            </a:pPr>
            <a:r>
              <a:rPr lang="en-US" sz="3200" dirty="0"/>
              <a:t>Write a persuasive paragraph supporting this claim. In your response, include the following:</a:t>
            </a:r>
          </a:p>
          <a:p>
            <a:r>
              <a:rPr lang="en-US" sz="3200" dirty="0">
                <a:solidFill>
                  <a:schemeClr val="accent3"/>
                </a:solidFill>
              </a:rPr>
              <a:t>Claim:</a:t>
            </a:r>
            <a:r>
              <a:rPr lang="en-US" sz="3200" dirty="0"/>
              <a:t> State your position clearly. Do you agree or disagree with the statement? Begin your paragraph with this claim.</a:t>
            </a:r>
          </a:p>
          <a:p>
            <a:endParaRPr lang="en-US" b="1" dirty="0"/>
          </a:p>
          <a:p>
            <a:pPr marL="0" indent="0">
              <a:buNone/>
            </a:pPr>
            <a:endParaRPr lang="en-US" b="1" dirty="0"/>
          </a:p>
        </p:txBody>
      </p:sp>
      <p:sp>
        <p:nvSpPr>
          <p:cNvPr id="4" name="Content Placeholder 3">
            <a:extLst>
              <a:ext uri="{FF2B5EF4-FFF2-40B4-BE49-F238E27FC236}">
                <a16:creationId xmlns:a16="http://schemas.microsoft.com/office/drawing/2014/main" id="{AA61B55C-5F9D-72ED-FC5C-4605FA31A925}"/>
              </a:ext>
            </a:extLst>
          </p:cNvPr>
          <p:cNvSpPr>
            <a:spLocks noGrp="1"/>
          </p:cNvSpPr>
          <p:nvPr>
            <p:ph sz="half" idx="2"/>
          </p:nvPr>
        </p:nvSpPr>
        <p:spPr/>
        <p:txBody>
          <a:bodyPr>
            <a:noAutofit/>
          </a:bodyPr>
          <a:lstStyle/>
          <a:p>
            <a:r>
              <a:rPr lang="en-US" sz="2200" dirty="0">
                <a:solidFill>
                  <a:schemeClr val="accent3"/>
                </a:solidFill>
              </a:rPr>
              <a:t>Evidence:</a:t>
            </a:r>
            <a:r>
              <a:rPr lang="en-US" sz="2200" dirty="0"/>
              <a:t> Use specific information from the </a:t>
            </a:r>
            <a:r>
              <a:rPr lang="en-US" sz="2200" dirty="0" err="1"/>
              <a:t>Cuemath</a:t>
            </a:r>
            <a:r>
              <a:rPr lang="en-US" sz="2200" dirty="0"/>
              <a:t> webpage to support your claim. This might include definitions, explanations, or examples of algebraic expressions and their simplification. Reference particular sections or examples from the text that illustrate why understanding and simplifying algebraic expressions is important for solving algebra problems.</a:t>
            </a:r>
          </a:p>
          <a:p>
            <a:r>
              <a:rPr lang="en-US" sz="2200" dirty="0">
                <a:solidFill>
                  <a:schemeClr val="accent3"/>
                </a:solidFill>
              </a:rPr>
              <a:t>Reasoning:</a:t>
            </a:r>
            <a:r>
              <a:rPr lang="en-US" sz="2200" dirty="0"/>
              <a:t> Explain how the evidence you provided supports your claim. Link the concepts of algebraic expressions to the broader context of solving algebra problems. Make connections between the evidence and your claim to demonstrate a clear understanding of the importance of these concepts in algebra.</a:t>
            </a:r>
          </a:p>
        </p:txBody>
      </p:sp>
    </p:spTree>
    <p:extLst>
      <p:ext uri="{BB962C8B-B14F-4D97-AF65-F5344CB8AC3E}">
        <p14:creationId xmlns:p14="http://schemas.microsoft.com/office/powerpoint/2010/main" val="1129286521"/>
      </p:ext>
    </p:extLst>
  </p:cSld>
  <p:clrMapOvr>
    <a:masterClrMapping/>
  </p:clrMapOvr>
  <mc:AlternateContent xmlns:mc="http://schemas.openxmlformats.org/markup-compatibility/2006">
    <mc:Choice xmlns:p14="http://schemas.microsoft.com/office/powerpoint/2010/main" Requires="p14">
      <p:transition spd="med" p14:dur="700" advTm="67940">
        <p:fade/>
      </p:transition>
    </mc:Choice>
    <mc:Fallback>
      <p:transition spd="med" advTm="6794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64520-0E76-2AAA-E8F9-0B95CFCFF147}"/>
              </a:ext>
            </a:extLst>
          </p:cNvPr>
          <p:cNvSpPr>
            <a:spLocks noGrp="1"/>
          </p:cNvSpPr>
          <p:nvPr>
            <p:ph type="title"/>
          </p:nvPr>
        </p:nvSpPr>
        <p:spPr/>
        <p:txBody>
          <a:bodyPr/>
          <a:lstStyle/>
          <a:p>
            <a:r>
              <a:rPr lang="en-US" dirty="0"/>
              <a:t>Measurement of Language and Literacy Needs</a:t>
            </a:r>
          </a:p>
        </p:txBody>
      </p:sp>
      <p:sp>
        <p:nvSpPr>
          <p:cNvPr id="3" name="Content Placeholder 2">
            <a:extLst>
              <a:ext uri="{FF2B5EF4-FFF2-40B4-BE49-F238E27FC236}">
                <a16:creationId xmlns:a16="http://schemas.microsoft.com/office/drawing/2014/main" id="{A01043AF-18E0-E33A-33AB-574CBB4314DC}"/>
              </a:ext>
            </a:extLst>
          </p:cNvPr>
          <p:cNvSpPr>
            <a:spLocks noGrp="1"/>
          </p:cNvSpPr>
          <p:nvPr>
            <p:ph idx="1"/>
          </p:nvPr>
        </p:nvSpPr>
        <p:spPr/>
        <p:txBody>
          <a:bodyPr>
            <a:normAutofit fontScale="85000" lnSpcReduction="10000"/>
          </a:bodyPr>
          <a:lstStyle/>
          <a:p>
            <a:pPr marL="514350" indent="-514350">
              <a:buFont typeface="+mj-lt"/>
              <a:buAutoNum type="arabicPeriod"/>
            </a:pPr>
            <a:r>
              <a:rPr lang="en-US" dirty="0">
                <a:solidFill>
                  <a:schemeClr val="accent3"/>
                </a:solidFill>
              </a:rPr>
              <a:t>Understanding of Subject-Specific Vocabulary: </a:t>
            </a:r>
            <a:r>
              <a:rPr lang="en-US" dirty="0"/>
              <a:t>The prompt requires students to use specific terminology related to algebraic expressions. Their responses will indicate their grasp of this vocabulary.</a:t>
            </a:r>
          </a:p>
          <a:p>
            <a:pPr marL="514350" indent="-514350">
              <a:buFont typeface="+mj-lt"/>
              <a:buAutoNum type="arabicPeriod"/>
            </a:pPr>
            <a:r>
              <a:rPr lang="en-US" dirty="0">
                <a:solidFill>
                  <a:schemeClr val="accent3"/>
                </a:solidFill>
              </a:rPr>
              <a:t>Reading Comprehension:</a:t>
            </a:r>
            <a:r>
              <a:rPr lang="en-US" dirty="0"/>
              <a:t> By asking students to reference specific sections or examples from the text, their responses will reflect their ability to comprehend and recall information from the reading.</a:t>
            </a:r>
          </a:p>
          <a:p>
            <a:pPr marL="514350" indent="-514350">
              <a:buFont typeface="+mj-lt"/>
              <a:buAutoNum type="arabicPeriod"/>
            </a:pPr>
            <a:r>
              <a:rPr lang="en-US" dirty="0">
                <a:solidFill>
                  <a:schemeClr val="accent3"/>
                </a:solidFill>
              </a:rPr>
              <a:t>Argumentation Skills:</a:t>
            </a:r>
            <a:r>
              <a:rPr lang="en-US" dirty="0"/>
              <a:t> The structure of the prompt (claim, evidence, reasoning) assesses students' ability to construct a logical argument. This includes forming a coherent claim, supporting it with relevant evidence, and articulating the connection between the two.</a:t>
            </a:r>
          </a:p>
          <a:p>
            <a:pPr marL="514350" indent="-514350">
              <a:buFont typeface="+mj-lt"/>
              <a:buAutoNum type="arabicPeriod"/>
            </a:pPr>
            <a:r>
              <a:rPr lang="en-US" dirty="0">
                <a:solidFill>
                  <a:schemeClr val="accent3"/>
                </a:solidFill>
              </a:rPr>
              <a:t>Writing Proficiency: </a:t>
            </a:r>
            <a:r>
              <a:rPr lang="en-US" dirty="0"/>
              <a:t>The coherence, organization, grammar, and clarity of their responses will give insights into each student's writing skills.</a:t>
            </a:r>
          </a:p>
          <a:p>
            <a:pPr marL="514350" indent="-514350">
              <a:buFont typeface="+mj-lt"/>
              <a:buAutoNum type="arabicPeriod"/>
            </a:pPr>
            <a:r>
              <a:rPr lang="en-US" dirty="0">
                <a:solidFill>
                  <a:schemeClr val="accent3"/>
                </a:solidFill>
              </a:rPr>
              <a:t>Critical Thinking and Analysis: </a:t>
            </a:r>
            <a:r>
              <a:rPr lang="en-US" dirty="0"/>
              <a:t>The reasoning part of the prompt assesses students' ability to analyze information and draw connections between the evidence and their claim, showcasing their higher-order thinking skills.</a:t>
            </a:r>
          </a:p>
        </p:txBody>
      </p:sp>
    </p:spTree>
    <p:extLst>
      <p:ext uri="{BB962C8B-B14F-4D97-AF65-F5344CB8AC3E}">
        <p14:creationId xmlns:p14="http://schemas.microsoft.com/office/powerpoint/2010/main" val="1459892299"/>
      </p:ext>
    </p:extLst>
  </p:cSld>
  <p:clrMapOvr>
    <a:masterClrMapping/>
  </p:clrMapOvr>
  <mc:AlternateContent xmlns:mc="http://schemas.openxmlformats.org/markup-compatibility/2006">
    <mc:Choice xmlns:p14="http://schemas.microsoft.com/office/powerpoint/2010/main" Requires="p14">
      <p:transition spd="med" p14:dur="700" advTm="51787">
        <p:fade/>
      </p:transition>
    </mc:Choice>
    <mc:Fallback>
      <p:transition spd="med" advTm="51787">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09B5E-8F85-3E48-4526-D4A70F9FBF13}"/>
              </a:ext>
            </a:extLst>
          </p:cNvPr>
          <p:cNvSpPr>
            <a:spLocks noGrp="1"/>
          </p:cNvSpPr>
          <p:nvPr>
            <p:ph type="title"/>
          </p:nvPr>
        </p:nvSpPr>
        <p:spPr/>
        <p:txBody>
          <a:bodyPr/>
          <a:lstStyle/>
          <a:p>
            <a:r>
              <a:rPr lang="en-US" dirty="0"/>
              <a:t>Actions Based on Responses</a:t>
            </a:r>
          </a:p>
        </p:txBody>
      </p:sp>
      <p:sp>
        <p:nvSpPr>
          <p:cNvPr id="3" name="Content Placeholder 2">
            <a:extLst>
              <a:ext uri="{FF2B5EF4-FFF2-40B4-BE49-F238E27FC236}">
                <a16:creationId xmlns:a16="http://schemas.microsoft.com/office/drawing/2014/main" id="{CA2D9702-010A-D637-15E9-0209F8B4E610}"/>
              </a:ext>
            </a:extLst>
          </p:cNvPr>
          <p:cNvSpPr>
            <a:spLocks noGrp="1"/>
          </p:cNvSpPr>
          <p:nvPr>
            <p:ph sz="half" idx="1"/>
          </p:nvPr>
        </p:nvSpPr>
        <p:spPr/>
        <p:txBody>
          <a:bodyPr>
            <a:noAutofit/>
          </a:bodyPr>
          <a:lstStyle/>
          <a:p>
            <a:pPr marL="514350" marR="0" lvl="0" indent="-514350" algn="l" defTabSz="914400" rtl="0" eaLnBrk="1" fontAlgn="auto" latinLnBrk="0" hangingPunct="1">
              <a:lnSpc>
                <a:spcPct val="110000"/>
              </a:lnSpc>
              <a:spcBef>
                <a:spcPts val="1000"/>
              </a:spcBef>
              <a:spcAft>
                <a:spcPts val="0"/>
              </a:spcAft>
              <a:buClrTx/>
              <a:buSzTx/>
              <a:buFont typeface="+mj-lt"/>
              <a:buAutoNum type="arabicPeriod"/>
              <a:tabLst/>
              <a:defRPr/>
            </a:pPr>
            <a:r>
              <a:rPr kumimoji="0" lang="en-US" sz="1700" b="0" i="0" u="none" strike="noStrike" kern="1200" cap="none" spc="0" normalizeH="0" baseline="0" noProof="0" dirty="0">
                <a:ln>
                  <a:noFill/>
                </a:ln>
                <a:solidFill>
                  <a:schemeClr val="accent3"/>
                </a:solidFill>
                <a:effectLst/>
                <a:uLnTx/>
                <a:uFillTx/>
                <a:latin typeface="The Hand Bold"/>
                <a:ea typeface="+mn-ea"/>
                <a:cs typeface="+mn-cs"/>
              </a:rPr>
              <a:t>For Students Struggling with Vocabulary and Comprehension:</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Provide additional resources or exercises focused on key algebraic terms.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Implement reading strategies, like guided reading sessions, to improve comprehension.</a:t>
            </a:r>
          </a:p>
          <a:p>
            <a:pPr marL="514350" marR="0" lvl="0" indent="-514350" algn="l" defTabSz="914400" rtl="0" eaLnBrk="1" fontAlgn="auto" latinLnBrk="0" hangingPunct="1">
              <a:lnSpc>
                <a:spcPct val="110000"/>
              </a:lnSpc>
              <a:spcBef>
                <a:spcPts val="1000"/>
              </a:spcBef>
              <a:spcAft>
                <a:spcPts val="0"/>
              </a:spcAft>
              <a:buClrTx/>
              <a:buSzTx/>
              <a:buFont typeface="+mj-lt"/>
              <a:buAutoNum type="arabicPeriod"/>
              <a:tabLst/>
              <a:defRPr/>
            </a:pPr>
            <a:r>
              <a:rPr kumimoji="0" lang="en-US" sz="1700" b="0" i="0" u="none" strike="noStrike" kern="1200" cap="none" spc="0" normalizeH="0" baseline="0" noProof="0" dirty="0">
                <a:ln>
                  <a:noFill/>
                </a:ln>
                <a:solidFill>
                  <a:schemeClr val="accent3"/>
                </a:solidFill>
                <a:effectLst/>
                <a:uLnTx/>
                <a:uFillTx/>
                <a:latin typeface="The Hand Bold"/>
                <a:ea typeface="+mn-ea"/>
                <a:cs typeface="+mn-cs"/>
              </a:rPr>
              <a:t>For Students with Weak Argumentation Skills: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Offer mini-lessons on constructing arguments, focusing on how to make a claim, find suitable evidence, and link the two with logical reasoning.</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Organize peer review sessions where they can get feedback on their argumentation skills.</a:t>
            </a:r>
          </a:p>
          <a:p>
            <a:pPr marL="514350" marR="0" lvl="0" indent="-514350" algn="l" defTabSz="914400" rtl="0" eaLnBrk="1" fontAlgn="auto" latinLnBrk="0" hangingPunct="1">
              <a:lnSpc>
                <a:spcPct val="110000"/>
              </a:lnSpc>
              <a:spcBef>
                <a:spcPts val="1000"/>
              </a:spcBef>
              <a:spcAft>
                <a:spcPts val="0"/>
              </a:spcAft>
              <a:buClrTx/>
              <a:buSzTx/>
              <a:buFont typeface="+mj-lt"/>
              <a:buAutoNum type="arabicPeriod"/>
              <a:tabLst/>
              <a:defRPr/>
            </a:pPr>
            <a:r>
              <a:rPr kumimoji="0" lang="en-US" sz="1700" b="0" i="0" u="none" strike="noStrike" kern="1200" cap="none" spc="0" normalizeH="0" baseline="0" noProof="0" dirty="0">
                <a:ln>
                  <a:noFill/>
                </a:ln>
                <a:solidFill>
                  <a:schemeClr val="accent3"/>
                </a:solidFill>
                <a:effectLst/>
                <a:uLnTx/>
                <a:uFillTx/>
                <a:latin typeface="The Hand Bold"/>
                <a:ea typeface="+mn-ea"/>
                <a:cs typeface="+mn-cs"/>
              </a:rPr>
              <a:t>For Students with Writing Challenges: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Conduct targeted writing workshops that address specific areas like sentence structure, grammar, and paragraph organization.</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Provide templates or graphic organizers to help structure their writing.</a:t>
            </a:r>
          </a:p>
        </p:txBody>
      </p:sp>
      <p:sp>
        <p:nvSpPr>
          <p:cNvPr id="4" name="Content Placeholder 3">
            <a:extLst>
              <a:ext uri="{FF2B5EF4-FFF2-40B4-BE49-F238E27FC236}">
                <a16:creationId xmlns:a16="http://schemas.microsoft.com/office/drawing/2014/main" id="{3F41E52F-20B6-45CE-1A2D-B510843E6181}"/>
              </a:ext>
            </a:extLst>
          </p:cNvPr>
          <p:cNvSpPr>
            <a:spLocks noGrp="1"/>
          </p:cNvSpPr>
          <p:nvPr>
            <p:ph sz="half" idx="2"/>
          </p:nvPr>
        </p:nvSpPr>
        <p:spPr/>
        <p:txBody>
          <a:bodyPr/>
          <a:lstStyle/>
          <a:p>
            <a:pPr marL="514350" marR="0" lvl="0" indent="-514350" algn="l" defTabSz="914400" rtl="0" eaLnBrk="1" fontAlgn="auto" latinLnBrk="0" hangingPunct="1">
              <a:lnSpc>
                <a:spcPct val="110000"/>
              </a:lnSpc>
              <a:spcBef>
                <a:spcPts val="1000"/>
              </a:spcBef>
              <a:spcAft>
                <a:spcPts val="0"/>
              </a:spcAft>
              <a:buClrTx/>
              <a:buSzTx/>
              <a:buFont typeface="+mj-lt"/>
              <a:buAutoNum type="arabicPeriod" startAt="4"/>
              <a:tabLst/>
              <a:defRPr/>
            </a:pPr>
            <a:r>
              <a:rPr kumimoji="0" lang="en-US" sz="1700" b="0" i="0" u="none" strike="noStrike" kern="1200" cap="none" spc="0" normalizeH="0" baseline="0" noProof="0" dirty="0">
                <a:ln>
                  <a:noFill/>
                </a:ln>
                <a:solidFill>
                  <a:schemeClr val="accent3"/>
                </a:solidFill>
                <a:effectLst/>
                <a:uLnTx/>
                <a:uFillTx/>
                <a:latin typeface="The Hand Bold"/>
                <a:ea typeface="+mn-ea"/>
                <a:cs typeface="+mn-cs"/>
              </a:rPr>
              <a:t>For Students Struggling with Critical Thinking:</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Engage them in activities that require analysis and synthesis of information, such as group discussions or problem-solving tasks.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Offer one-on-one sessions to discuss their thought process and guide them in making connections between concepts.</a:t>
            </a:r>
          </a:p>
          <a:p>
            <a:pPr marL="514350" marR="0" lvl="0" indent="-514350" algn="l" defTabSz="914400" rtl="0" eaLnBrk="1" fontAlgn="auto" latinLnBrk="0" hangingPunct="1">
              <a:lnSpc>
                <a:spcPct val="110000"/>
              </a:lnSpc>
              <a:spcBef>
                <a:spcPts val="1000"/>
              </a:spcBef>
              <a:spcAft>
                <a:spcPts val="0"/>
              </a:spcAft>
              <a:buClrTx/>
              <a:buSzTx/>
              <a:buFont typeface="+mj-lt"/>
              <a:buAutoNum type="arabicPeriod" startAt="4"/>
              <a:tabLst/>
              <a:defRPr/>
            </a:pPr>
            <a:r>
              <a:rPr kumimoji="0" lang="en-US" sz="1700" b="0" i="0" u="none" strike="noStrike" kern="1200" cap="none" spc="0" normalizeH="0" baseline="0" noProof="0" dirty="0">
                <a:ln>
                  <a:noFill/>
                </a:ln>
                <a:solidFill>
                  <a:schemeClr val="accent3"/>
                </a:solidFill>
                <a:effectLst/>
                <a:uLnTx/>
                <a:uFillTx/>
                <a:latin typeface="The Hand Bold"/>
                <a:ea typeface="+mn-ea"/>
                <a:cs typeface="+mn-cs"/>
              </a:rPr>
              <a:t>For Advanced Students: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Challenge them with more complex writing prompts or additional readings that push their comprehension and critical analysis skills.</a:t>
            </a:r>
          </a:p>
          <a:p>
            <a:pPr marL="685800" marR="0" lvl="1" indent="-228600" algn="l" defTabSz="914400" rtl="0" eaLnBrk="1" fontAlgn="auto" latinLnBrk="0" hangingPunct="1">
              <a:lnSpc>
                <a:spcPct val="110000"/>
              </a:lnSpc>
              <a:spcBef>
                <a:spcPts val="500"/>
              </a:spcBef>
              <a:spcAft>
                <a:spcPts val="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latin typeface="The Hand Bold"/>
                <a:ea typeface="+mn-ea"/>
                <a:cs typeface="+mn-cs"/>
              </a:rPr>
              <a:t>Encourage them to peer-tutor or lead group discussions to develop their understanding and communication skills further.</a:t>
            </a:r>
          </a:p>
          <a:p>
            <a:endParaRPr lang="en-US" dirty="0"/>
          </a:p>
        </p:txBody>
      </p:sp>
    </p:spTree>
    <p:extLst>
      <p:ext uri="{BB962C8B-B14F-4D97-AF65-F5344CB8AC3E}">
        <p14:creationId xmlns:p14="http://schemas.microsoft.com/office/powerpoint/2010/main" val="2369098636"/>
      </p:ext>
    </p:extLst>
  </p:cSld>
  <p:clrMapOvr>
    <a:masterClrMapping/>
  </p:clrMapOvr>
  <mc:AlternateContent xmlns:mc="http://schemas.openxmlformats.org/markup-compatibility/2006">
    <mc:Choice xmlns:p14="http://schemas.microsoft.com/office/powerpoint/2010/main" Requires="p14">
      <p:transition spd="med" p14:dur="700" advTm="71631">
        <p:fade/>
      </p:transition>
    </mc:Choice>
    <mc:Fallback>
      <p:transition spd="med" advTm="7163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A6FA2-3E81-42B4-BB1F-A03FE0F34BD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D0C7308-C85E-6D08-D538-FA2086A1BD18}"/>
              </a:ext>
            </a:extLst>
          </p:cNvPr>
          <p:cNvSpPr>
            <a:spLocks noGrp="1"/>
          </p:cNvSpPr>
          <p:nvPr>
            <p:ph idx="1"/>
          </p:nvPr>
        </p:nvSpPr>
        <p:spPr/>
        <p:txBody>
          <a:bodyPr/>
          <a:lstStyle/>
          <a:p>
            <a:pPr marL="457200" indent="-457200">
              <a:buNone/>
            </a:pPr>
            <a:r>
              <a:rPr lang="en-US" dirty="0" err="1">
                <a:effectLst/>
              </a:rPr>
              <a:t>Cuemath</a:t>
            </a:r>
            <a:r>
              <a:rPr lang="en-US" dirty="0">
                <a:effectLst/>
              </a:rPr>
              <a:t>. (n.d.). </a:t>
            </a:r>
            <a:r>
              <a:rPr lang="en-US" i="1" dirty="0">
                <a:effectLst/>
              </a:rPr>
              <a:t>Algebraic Expressions—Formulas, Simplifying, Evaluating</a:t>
            </a:r>
            <a:r>
              <a:rPr lang="en-US" dirty="0">
                <a:effectLst/>
              </a:rPr>
              <a:t>. </a:t>
            </a:r>
            <a:r>
              <a:rPr lang="en-US" dirty="0" err="1">
                <a:effectLst/>
              </a:rPr>
              <a:t>Cuemath</a:t>
            </a:r>
            <a:r>
              <a:rPr lang="en-US" dirty="0">
                <a:effectLst/>
              </a:rPr>
              <a:t>. Retrieved January 21, 2024, </a:t>
            </a:r>
            <a:r>
              <a:rPr lang="en-US">
                <a:effectLst/>
              </a:rPr>
              <a:t>from      </a:t>
            </a:r>
            <a:r>
              <a:rPr lang="en-US">
                <a:effectLst/>
                <a:hlinkClick r:id="rId2"/>
              </a:rPr>
              <a:t>https</a:t>
            </a:r>
            <a:r>
              <a:rPr lang="en-US" dirty="0">
                <a:effectLst/>
                <a:hlinkClick r:id="rId2"/>
              </a:rPr>
              <a:t>://www.cuemath.com/algebra/algebraic-expression/</a:t>
            </a:r>
            <a:endParaRPr lang="en-US" dirty="0">
              <a:effectLst/>
            </a:endParaRPr>
          </a:p>
          <a:p>
            <a:pPr marL="0" indent="0">
              <a:buNone/>
            </a:pPr>
            <a:endParaRPr lang="en-US" dirty="0"/>
          </a:p>
        </p:txBody>
      </p:sp>
    </p:spTree>
    <p:extLst>
      <p:ext uri="{BB962C8B-B14F-4D97-AF65-F5344CB8AC3E}">
        <p14:creationId xmlns:p14="http://schemas.microsoft.com/office/powerpoint/2010/main" val="3721908322"/>
      </p:ext>
    </p:extLst>
  </p:cSld>
  <p:clrMapOvr>
    <a:masterClrMapping/>
  </p:clrMapOvr>
  <mc:AlternateContent xmlns:mc="http://schemas.openxmlformats.org/markup-compatibility/2006">
    <mc:Choice xmlns:p14="http://schemas.microsoft.com/office/powerpoint/2010/main" Requires="p14">
      <p:transition spd="med" p14:dur="700" advTm="7394">
        <p:fade/>
      </p:transition>
    </mc:Choice>
    <mc:Fallback>
      <p:transition spd="med" advTm="7394">
        <p:fade/>
      </p:transition>
    </mc:Fallback>
  </mc:AlternateContent>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92</TotalTime>
  <Words>1059</Words>
  <Application>Microsoft Office PowerPoint</Application>
  <PresentationFormat>Widescreen</PresentationFormat>
  <Paragraphs>70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The Hand Bold</vt:lpstr>
      <vt:lpstr>The Serif Hand Black</vt:lpstr>
      <vt:lpstr>SketchyVTI</vt:lpstr>
      <vt:lpstr>Informational Text in Mathematics</vt:lpstr>
      <vt:lpstr>The Cuemath website: Algebraic Expressions</vt:lpstr>
      <vt:lpstr>Learning Activity Part 1: Vocabulary Comprehension</vt:lpstr>
      <vt:lpstr>Learning Activity Part 2: Accessing Text Features</vt:lpstr>
      <vt:lpstr>Writing Prompt: Exploring Algebraic Expressions</vt:lpstr>
      <vt:lpstr>Measurement of Language and Literacy Needs</vt:lpstr>
      <vt:lpstr>Actions Based on Responses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Informational Text in Mathematics</dc:title>
  <dc:creator>Frank Jamison</dc:creator>
  <cp:lastModifiedBy>Frank Jamison</cp:lastModifiedBy>
  <cp:revision>1</cp:revision>
  <dcterms:created xsi:type="dcterms:W3CDTF">2024-01-21T13:44:41Z</dcterms:created>
  <dcterms:modified xsi:type="dcterms:W3CDTF">2024-01-29T01:16:46Z</dcterms:modified>
</cp:coreProperties>
</file>